
<file path=[Content_Types].xml><?xml version="1.0" encoding="utf-8"?>
<Types xmlns="http://schemas.openxmlformats.org/package/2006/content-types">
  <Default Extension="gif" ContentType="image/gif"/>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66" r:id="rId4"/>
    <p:sldId id="261" r:id="rId5"/>
    <p:sldId id="262" r:id="rId6"/>
    <p:sldId id="263" r:id="rId7"/>
    <p:sldId id="259" r:id="rId8"/>
    <p:sldId id="265" r:id="rId9"/>
    <p:sldId id="267" r:id="rId10"/>
    <p:sldId id="268" r:id="rId11"/>
    <p:sldId id="269" r:id="rId12"/>
    <p:sldId id="264" r:id="rId13"/>
    <p:sldId id="260"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1" autoAdjust="0"/>
    <p:restoredTop sz="96247" autoAdjust="0"/>
  </p:normalViewPr>
  <p:slideViewPr>
    <p:cSldViewPr snapToGrid="0" snapToObjects="1">
      <p:cViewPr varScale="1">
        <p:scale>
          <a:sx n="111" d="100"/>
          <a:sy n="111" d="100"/>
        </p:scale>
        <p:origin x="48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 Silva, Lucas" userId="6904caf2-6073-43c4-940e-7cb9f7c409fe" providerId="ADAL" clId="{5D2C0B45-F2C2-4A18-896F-FB4D97B02A61}"/>
    <pc:docChg chg="modSld">
      <pc:chgData name="Da Silva, Lucas" userId="6904caf2-6073-43c4-940e-7cb9f7c409fe" providerId="ADAL" clId="{5D2C0B45-F2C2-4A18-896F-FB4D97B02A61}" dt="2026-09-28T20:07:56.190" v="0"/>
      <pc:docMkLst>
        <pc:docMk/>
      </pc:docMkLst>
      <pc:sldChg chg="addSp">
        <pc:chgData name="Da Silva, Lucas" userId="6904caf2-6073-43c4-940e-7cb9f7c409fe" providerId="ADAL" clId="{5D2C0B45-F2C2-4A18-896F-FB4D97B02A61}" dt="2026-09-28T20:07:56.190" v="0"/>
        <pc:sldMkLst>
          <pc:docMk/>
          <pc:sldMk cId="0" sldId="260"/>
        </pc:sldMkLst>
        <pc:picChg chg="add">
          <ac:chgData name="Da Silva, Lucas" userId="6904caf2-6073-43c4-940e-7cb9f7c409fe" providerId="ADAL" clId="{5D2C0B45-F2C2-4A18-896F-FB4D97B02A61}" dt="2026-09-28T20:07:56.190" v="0"/>
          <ac:picMkLst>
            <pc:docMk/>
            <pc:sldMk cId="0" sldId="260"/>
            <ac:picMk id="5" creationId="{9D6B9C33-5EB4-1375-1303-30453C04A50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964344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~25 seconds
Hi everyone—I'm Lucas Da Silva, a data analyst on Suffolk Construction's Data Product Team. Today I'll show a pre-pilot app called Vera Notes: an example of using Shiny as a mobile, voice-enabled workflow rather than only as a dashboard or report.
[Sources]
- User-provided Vera application home-screen screenshot, supplied in this conversation.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~35 seconds
I'm a data analyst on Suffolk's Data Product Team. The common thread in our work is turning real construction workflows into usable data products. For this talk, the workflow is daily logs—information created in the field that eventually needs to inform schedule updates. This photo shows me on site with Suffolk colleagues.
[Sources]
- User-provided construction-site group photo featuring Lucas Da Silva and Suffolk colleagues, supplied in this conversation.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24CF65-8116-9733-6306-45A87006EB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433CC6-140A-3477-8B4F-3E78B9A762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DDF53E-05E1-012C-100D-15BD1A943FE4}"/>
              </a:ext>
            </a:extLst>
          </p:cNvPr>
          <p:cNvSpPr>
            <a:spLocks noGrp="1"/>
          </p:cNvSpPr>
          <p:nvPr>
            <p:ph type="body" idx="1"/>
          </p:nvPr>
        </p:nvSpPr>
        <p:spPr/>
        <p:txBody>
          <a:bodyPr/>
          <a:lstStyle/>
          <a:p>
            <a:r>
              <a:rPr lang="en-US" dirty="0"/>
              <a:t>Timing: ~35 seconds
I'm a data analyst on Suffolk's Data Product Team. The common thread in our work is turning real construction workflows into usable data products. For this talk, the workflow is daily logs—information created in the field that eventually needs to inform schedule updates. This photo shows me on site with Suffolk colleagues.
[Sources]
- User-provided construction-site group photo featuring Lucas Da Silva and Suffolk colleagues, supplied in this conversation.</a:t>
            </a:r>
          </a:p>
        </p:txBody>
      </p:sp>
      <p:sp>
        <p:nvSpPr>
          <p:cNvPr id="4" name="Slide Number Placeholder 3">
            <a:extLst>
              <a:ext uri="{FF2B5EF4-FFF2-40B4-BE49-F238E27FC236}">
                <a16:creationId xmlns:a16="http://schemas.microsoft.com/office/drawing/2014/main" id="{4AE7C5E3-7737-8C46-6984-464D814C2481}"/>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2219949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28CD04-14F4-8AD3-F4CA-C5C23BFBC2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1D4916-B3C3-7E38-0F95-D5D51A7A30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2ECF5C-ED45-AFA0-56D3-503542F834EE}"/>
              </a:ext>
            </a:extLst>
          </p:cNvPr>
          <p:cNvSpPr>
            <a:spLocks noGrp="1"/>
          </p:cNvSpPr>
          <p:nvPr>
            <p:ph type="body" idx="1"/>
          </p:nvPr>
        </p:nvSpPr>
        <p:spPr/>
        <p:txBody>
          <a:bodyPr/>
          <a:lstStyle/>
          <a:p>
            <a:r>
              <a:rPr lang="en-US" dirty="0"/>
              <a:t>Timing: ~50 seconds
Daily logs are a simple example of the broader paperwork challenge. The information is captured in the field, waits outside the systems that need it, and is re-entered later. Only then can it contribute to reporting or schedule updates. The opportunity is not to eliminate documentation—it is to capture it once and make it useful immediately.</a:t>
            </a:r>
          </a:p>
        </p:txBody>
      </p:sp>
      <p:sp>
        <p:nvSpPr>
          <p:cNvPr id="4" name="Slide Number Placeholder 3">
            <a:extLst>
              <a:ext uri="{FF2B5EF4-FFF2-40B4-BE49-F238E27FC236}">
                <a16:creationId xmlns:a16="http://schemas.microsoft.com/office/drawing/2014/main" id="{E9054657-8CFE-7FBD-A4CA-E2E4C2F44A70}"/>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7208209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0320B9-27AA-F18F-220D-1B1B366F4B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A7236E-DD20-1F43-5E03-D619E99155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CD1161-5B31-F4BE-0BA0-3E6CB6FDA708}"/>
              </a:ext>
            </a:extLst>
          </p:cNvPr>
          <p:cNvSpPr>
            <a:spLocks noGrp="1"/>
          </p:cNvSpPr>
          <p:nvPr>
            <p:ph type="body" idx="1"/>
          </p:nvPr>
        </p:nvSpPr>
        <p:spPr/>
        <p:txBody>
          <a:bodyPr/>
          <a:lstStyle/>
          <a:p>
            <a:r>
              <a:rPr lang="en-US" dirty="0"/>
              <a:t>Timing: ~50 seconds
Daily logs are a simple example of the broader paperwork challenge. The information is captured in the field, waits outside the systems that need it, and is re-entered later. Only then can it contribute to reporting or schedule updates. The opportunity is not to eliminate documentation—it is to capture it once and make it useful immediately.</a:t>
            </a:r>
          </a:p>
        </p:txBody>
      </p:sp>
      <p:sp>
        <p:nvSpPr>
          <p:cNvPr id="4" name="Slide Number Placeholder 3">
            <a:extLst>
              <a:ext uri="{FF2B5EF4-FFF2-40B4-BE49-F238E27FC236}">
                <a16:creationId xmlns:a16="http://schemas.microsoft.com/office/drawing/2014/main" id="{660CD657-CFCA-491E-2797-96A31E4D65D7}"/>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2338398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879F20-55CC-CB99-FF02-846D349659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3F988E-C74B-A6DB-4C9E-1073DA7857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17F6B4-3454-B68A-5E37-87A1F6365C12}"/>
              </a:ext>
            </a:extLst>
          </p:cNvPr>
          <p:cNvSpPr>
            <a:spLocks noGrp="1"/>
          </p:cNvSpPr>
          <p:nvPr>
            <p:ph type="body" idx="1"/>
          </p:nvPr>
        </p:nvSpPr>
        <p:spPr/>
        <p:txBody>
          <a:bodyPr/>
          <a:lstStyle/>
          <a:p>
            <a:r>
              <a:rPr lang="en-US" dirty="0"/>
              <a:t>Timing: ~50 seconds
Daily logs are a simple example of the broader paperwork challenge. The information is captured in the field, waits outside the systems that need it, and is re-entered later. Only then can it contribute to reporting or schedule updates. The opportunity is not to eliminate documentation—it is to capture it once and make it useful immediately.</a:t>
            </a:r>
          </a:p>
        </p:txBody>
      </p:sp>
      <p:sp>
        <p:nvSpPr>
          <p:cNvPr id="4" name="Slide Number Placeholder 3">
            <a:extLst>
              <a:ext uri="{FF2B5EF4-FFF2-40B4-BE49-F238E27FC236}">
                <a16:creationId xmlns:a16="http://schemas.microsoft.com/office/drawing/2014/main" id="{8FB3AA16-11E6-6283-EA44-E879AD7A7871}"/>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6899625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before demo: ~45 seconds
Vera Notes moves digitization to the beginning of the workflow. A user speaks naturally, reviews and edits the transcript, saves and pushes the note, and the app can auto-map that note to the project schedule to infer updates. The important point for this audience is the interaction model: Shiny can meet a user on mobile and become the place where operational data begins. Let's see it in action.
[Sources]
- User-provided Vera Notes transcript-screen screenshot, supplied in this conversation.</a:t>
            </a:r>
          </a:p>
          <a:p>
            <a:endParaRPr lang="en-US" dirty="0"/>
          </a:p>
          <a:p>
            <a:r>
              <a:rPr lang="en-US" dirty="0"/>
              <a:t>https://www.loom.com/share/74e09b9b7eb64c76ab7dd80de6593298</a:t>
            </a:r>
          </a:p>
          <a:p>
            <a:endParaRPr lang="en-US" dirty="0"/>
          </a:p>
          <a:p>
            <a:r>
              <a:rPr lang="en-US" dirty="0"/>
              <a:t>https://www.loom.com/share/dd9a829194794bd6bf264a770218c88b</a:t>
            </a:r>
          </a:p>
          <a:p>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53CFAB-F6CF-E5AA-3072-6036CDB761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C40385-C761-8016-7F74-C954C78965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334376-5B85-73D6-9F33-EFF52D15D6CD}"/>
              </a:ext>
            </a:extLst>
          </p:cNvPr>
          <p:cNvSpPr>
            <a:spLocks noGrp="1"/>
          </p:cNvSpPr>
          <p:nvPr>
            <p:ph type="body" idx="1"/>
          </p:nvPr>
        </p:nvSpPr>
        <p:spPr/>
        <p:txBody>
          <a:bodyPr/>
          <a:lstStyle/>
          <a:p>
            <a:r>
              <a:rPr lang="en-US" dirty="0"/>
              <a:t>Timing before demo: ~45 seconds
Vera Notes moves digitization to the beginning of the workflow. A user speaks naturally, reviews and edits the transcript, saves and pushes the note, and the app can auto-map that note to the project schedule to infer updates. The important point for this audience is the interaction model: Shiny can meet a user on mobile and become the place where operational data begins. Let's see it in action.
[Sources]
- User-provided Vera Notes transcript-screen screenshot, supplied in this conversation.</a:t>
            </a:r>
          </a:p>
          <a:p>
            <a:endParaRPr lang="en-US" dirty="0"/>
          </a:p>
          <a:p>
            <a:r>
              <a:rPr lang="en-US" dirty="0"/>
              <a:t>https://www.loom.com/share/74e09b9b7eb64c76ab7dd80de6593298</a:t>
            </a:r>
          </a:p>
          <a:p>
            <a:endParaRPr lang="en-US" dirty="0"/>
          </a:p>
          <a:p>
            <a:r>
              <a:rPr lang="en-US" dirty="0"/>
              <a:t>https://www.loom.com/share/dd9a829194794bd6bf264a770218c88b</a:t>
            </a:r>
          </a:p>
          <a:p>
            <a:endParaRPr lang="en-US" dirty="0"/>
          </a:p>
          <a:p>
            <a:endParaRPr lang="en-US" dirty="0"/>
          </a:p>
        </p:txBody>
      </p:sp>
      <p:sp>
        <p:nvSpPr>
          <p:cNvPr id="4" name="Slide Number Placeholder 3">
            <a:extLst>
              <a:ext uri="{FF2B5EF4-FFF2-40B4-BE49-F238E27FC236}">
                <a16:creationId xmlns:a16="http://schemas.microsoft.com/office/drawing/2014/main" id="{8303275D-248E-37F3-6906-8F4BEEA65245}"/>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7923392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A108E8-1C81-BF46-43F1-B4A003E427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CC4715-43E2-6917-1FAA-557AB90FAD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A99433-60AD-9E35-357D-3AECB921F734}"/>
              </a:ext>
            </a:extLst>
          </p:cNvPr>
          <p:cNvSpPr>
            <a:spLocks noGrp="1"/>
          </p:cNvSpPr>
          <p:nvPr>
            <p:ph type="body" idx="1"/>
          </p:nvPr>
        </p:nvSpPr>
        <p:spPr/>
        <p:txBody>
          <a:bodyPr/>
          <a:lstStyle/>
          <a:p>
            <a:r>
              <a:rPr lang="en-US" dirty="0"/>
              <a:t>Timing: ~35 seconds
I'm a data analyst on Suffolk's Data Product Team. The common thread in our work is turning real construction workflows into usable data products. For this talk, the workflow is daily logs—information created in the field that eventually needs to inform schedule updates. This photo shows me on site with Suffolk colleagues.
[Sources]
- User-provided construction-site group photo featuring Lucas Da Silva and Suffolk colleagues, supplied in this conversation.</a:t>
            </a:r>
          </a:p>
        </p:txBody>
      </p:sp>
      <p:sp>
        <p:nvSpPr>
          <p:cNvPr id="4" name="Slide Number Placeholder 3">
            <a:extLst>
              <a:ext uri="{FF2B5EF4-FFF2-40B4-BE49-F238E27FC236}">
                <a16:creationId xmlns:a16="http://schemas.microsoft.com/office/drawing/2014/main" id="{5807E768-99AC-0D7F-4A3D-DE30ACFD3CEE}"/>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9306127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CBCA66-AA8F-A45C-3A14-5525DDB19D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C858AF-F1F7-BE67-A8B4-EF789FFDD5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2A24B1-7316-C843-0A46-5FB0CD8E63AD}"/>
              </a:ext>
            </a:extLst>
          </p:cNvPr>
          <p:cNvSpPr>
            <a:spLocks noGrp="1"/>
          </p:cNvSpPr>
          <p:nvPr>
            <p:ph type="body" idx="1"/>
          </p:nvPr>
        </p:nvSpPr>
        <p:spPr/>
        <p:txBody>
          <a:bodyPr/>
          <a:lstStyle/>
          <a:p>
            <a:r>
              <a:rPr lang="en-US" dirty="0"/>
              <a:t>Timing before demo: ~45 seconds
Vera Notes moves digitization to the beginning of the workflow. A user speaks naturally, reviews and edits the transcript, saves and pushes the note, and the app can auto-map that note to the project schedule to infer updates. The important point for this audience is the interaction model: Shiny can meet a user on mobile and become the place where operational data begins. Let's see it in action.
[Sources]
- User-provided Vera Notes transcript-screen screenshot, supplied in this conversation.</a:t>
            </a:r>
          </a:p>
          <a:p>
            <a:endParaRPr lang="en-US" dirty="0"/>
          </a:p>
          <a:p>
            <a:r>
              <a:rPr lang="en-US" dirty="0"/>
              <a:t>https://www.loom.com/share/74e09b9b7eb64c76ab7dd80de6593298</a:t>
            </a:r>
          </a:p>
          <a:p>
            <a:endParaRPr lang="en-US" dirty="0"/>
          </a:p>
          <a:p>
            <a:r>
              <a:rPr lang="en-US" dirty="0"/>
              <a:t>https://www.loom.com/share/dd9a829194794bd6bf264a770218c88b</a:t>
            </a:r>
          </a:p>
          <a:p>
            <a:endParaRPr lang="en-US" dirty="0"/>
          </a:p>
          <a:p>
            <a:endParaRPr lang="en-US" dirty="0"/>
          </a:p>
        </p:txBody>
      </p:sp>
      <p:sp>
        <p:nvSpPr>
          <p:cNvPr id="4" name="Slide Number Placeholder 3">
            <a:extLst>
              <a:ext uri="{FF2B5EF4-FFF2-40B4-BE49-F238E27FC236}">
                <a16:creationId xmlns:a16="http://schemas.microsoft.com/office/drawing/2014/main" id="{5C1410B0-DDCF-F001-036B-952E8B6FC764}"/>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3016936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87CCAC-93BE-8D71-C1E0-05D9375FAB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5DF58C-DB33-7D2E-98D1-156D5D80C8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FCBFE9-37DC-7BAF-9E0E-65F818838551}"/>
              </a:ext>
            </a:extLst>
          </p:cNvPr>
          <p:cNvSpPr>
            <a:spLocks noGrp="1"/>
          </p:cNvSpPr>
          <p:nvPr>
            <p:ph type="body" idx="1"/>
          </p:nvPr>
        </p:nvSpPr>
        <p:spPr/>
        <p:txBody>
          <a:bodyPr/>
          <a:lstStyle/>
          <a:p>
            <a:r>
              <a:rPr lang="en-US" dirty="0"/>
              <a:t>Timing before demo: ~45 seconds
Vera Notes moves digitization to the beginning of the workflow. A user speaks naturally, reviews and edits the transcript, saves and pushes the note, and the app can auto-map that note to the project schedule to infer updates. The important point for this audience is the interaction model: Shiny can meet a user on mobile and become the place where operational data begins. Let's see it in action.
[Sources]
- User-provided Vera Notes transcript-screen screenshot, supplied in this conversation.</a:t>
            </a:r>
          </a:p>
          <a:p>
            <a:endParaRPr lang="en-US" dirty="0"/>
          </a:p>
          <a:p>
            <a:r>
              <a:rPr lang="en-US" dirty="0"/>
              <a:t>https://www.loom.com/share/74e09b9b7eb64c76ab7dd80de6593298</a:t>
            </a:r>
          </a:p>
          <a:p>
            <a:endParaRPr lang="en-US" dirty="0"/>
          </a:p>
          <a:p>
            <a:r>
              <a:rPr lang="en-US" dirty="0"/>
              <a:t>https://www.loom.com/share/dd9a829194794bd6bf264a770218c88b</a:t>
            </a:r>
          </a:p>
          <a:p>
            <a:endParaRPr lang="en-US" dirty="0"/>
          </a:p>
          <a:p>
            <a:endParaRPr lang="en-US" dirty="0"/>
          </a:p>
        </p:txBody>
      </p:sp>
      <p:sp>
        <p:nvSpPr>
          <p:cNvPr id="4" name="Slide Number Placeholder 3">
            <a:extLst>
              <a:ext uri="{FF2B5EF4-FFF2-40B4-BE49-F238E27FC236}">
                <a16:creationId xmlns:a16="http://schemas.microsoft.com/office/drawing/2014/main" id="{756B26E3-2FF4-13A7-54D5-24D821CAE22D}"/>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9505394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8DF9FC-8494-AC10-F1C1-6ED3342A8E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28D0D4-5472-F85B-B01C-1FE494BC6F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4B96F1-2A30-4BCB-8B69-20690C8A09E7}"/>
              </a:ext>
            </a:extLst>
          </p:cNvPr>
          <p:cNvSpPr>
            <a:spLocks noGrp="1"/>
          </p:cNvSpPr>
          <p:nvPr>
            <p:ph type="body" idx="1"/>
          </p:nvPr>
        </p:nvSpPr>
        <p:spPr/>
        <p:txBody>
          <a:bodyPr/>
          <a:lstStyle/>
          <a:p>
            <a:r>
              <a:rPr lang="en-US" dirty="0"/>
              <a:t>Timing before demo: ~45 seconds
Vera Notes moves digitization to the beginning of the workflow. A user speaks naturally, reviews and edits the transcript, saves and pushes the note, and the app can auto-map that note to the project schedule to infer updates. The important point for this audience is the interaction model: Shiny can meet a user on mobile and become the place where operational data begins. Let's see it in action.
[Sources]
- User-provided Vera Notes transcript-screen screenshot, supplied in this conversation.</a:t>
            </a:r>
          </a:p>
          <a:p>
            <a:endParaRPr lang="en-US" dirty="0"/>
          </a:p>
          <a:p>
            <a:r>
              <a:rPr lang="en-US" dirty="0"/>
              <a:t>https://www.loom.com/share/74e09b9b7eb64c76ab7dd80de6593298</a:t>
            </a:r>
          </a:p>
          <a:p>
            <a:endParaRPr lang="en-US" dirty="0"/>
          </a:p>
          <a:p>
            <a:r>
              <a:rPr lang="en-US" dirty="0"/>
              <a:t>https://www.loom.com/share/dd9a829194794bd6bf264a770218c88b</a:t>
            </a:r>
          </a:p>
          <a:p>
            <a:endParaRPr lang="en-US" dirty="0"/>
          </a:p>
          <a:p>
            <a:endParaRPr lang="en-US" dirty="0"/>
          </a:p>
        </p:txBody>
      </p:sp>
      <p:sp>
        <p:nvSpPr>
          <p:cNvPr id="4" name="Slide Number Placeholder 3">
            <a:extLst>
              <a:ext uri="{FF2B5EF4-FFF2-40B4-BE49-F238E27FC236}">
                <a16:creationId xmlns:a16="http://schemas.microsoft.com/office/drawing/2014/main" id="{B0CC885F-C2E1-32EE-42FA-54DBFA1E1298}"/>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7301200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seconds
The takeaway I hope you leave with is that Shiny can be more than the place where data is viewed. It can be the interaction layer where data begins—especially when we design for how users already work and communicate. Thank you.
[Sources]
- User-provided Vera Notes recording-state screenshot, supplied in this conversation.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1.jpe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1C40"/>
        </a:solidFill>
        <a:effectLst/>
      </p:bgPr>
    </p:bg>
    <p:spTree>
      <p:nvGrpSpPr>
        <p:cNvPr id="1" name=""/>
        <p:cNvGrpSpPr/>
        <p:nvPr/>
      </p:nvGrpSpPr>
      <p:grpSpPr>
        <a:xfrm>
          <a:off x="0" y="0"/>
          <a:ext cx="0" cy="0"/>
          <a:chOff x="0" y="0"/>
          <a:chExt cx="0" cy="0"/>
        </a:xfrm>
      </p:grpSpPr>
      <p:sp>
        <p:nvSpPr>
          <p:cNvPr id="2" name="Text 0"/>
          <p:cNvSpPr/>
          <p:nvPr/>
        </p:nvSpPr>
        <p:spPr>
          <a:xfrm>
            <a:off x="713232" y="512064"/>
            <a:ext cx="7040880" cy="237744"/>
          </a:xfrm>
          <a:prstGeom prst="rect">
            <a:avLst/>
          </a:prstGeom>
          <a:noFill/>
          <a:ln/>
        </p:spPr>
        <p:txBody>
          <a:bodyPr wrap="square" lIns="0" tIns="0" rIns="0" bIns="0" rtlCol="0" anchor="ctr"/>
          <a:lstStyle/>
          <a:p>
            <a:r>
              <a:rPr lang="en-US" sz="1050" b="1" kern="0" spc="145" dirty="0">
                <a:solidFill>
                  <a:srgbClr val="DC7890"/>
                </a:solidFill>
                <a:latin typeface="Aptos"/>
              </a:rPr>
              <a:t>DATA SCIENCE LAB</a:t>
            </a:r>
            <a:endParaRPr lang="en-US" dirty="0"/>
          </a:p>
        </p:txBody>
      </p:sp>
      <p:sp>
        <p:nvSpPr>
          <p:cNvPr id="3" name="Shape 1"/>
          <p:cNvSpPr/>
          <p:nvPr/>
        </p:nvSpPr>
        <p:spPr>
          <a:xfrm>
            <a:off x="713232" y="941832"/>
            <a:ext cx="685800" cy="0"/>
          </a:xfrm>
          <a:prstGeom prst="line">
            <a:avLst/>
          </a:prstGeom>
          <a:noFill/>
          <a:ln w="63500">
            <a:solidFill>
              <a:srgbClr val="C40C3C"/>
            </a:solidFill>
            <a:prstDash val="solid"/>
          </a:ln>
        </p:spPr>
        <p:txBody>
          <a:bodyPr/>
          <a:lstStyle/>
          <a:p>
            <a:endParaRPr lang="en-US"/>
          </a:p>
        </p:txBody>
      </p:sp>
      <p:sp>
        <p:nvSpPr>
          <p:cNvPr id="4" name="Text 2"/>
          <p:cNvSpPr/>
          <p:nvPr/>
        </p:nvSpPr>
        <p:spPr>
          <a:xfrm>
            <a:off x="713232" y="2228353"/>
            <a:ext cx="7400014" cy="1414007"/>
          </a:xfrm>
          <a:prstGeom prst="rect">
            <a:avLst/>
          </a:prstGeom>
          <a:noFill/>
          <a:ln/>
        </p:spPr>
        <p:txBody>
          <a:bodyPr wrap="square" lIns="0" tIns="0" rIns="0" bIns="0" rtlCol="0" anchor="ctr"/>
          <a:lstStyle/>
          <a:p>
            <a:r>
              <a:rPr lang="en-US" sz="3700" b="1" dirty="0">
                <a:solidFill>
                  <a:srgbClr val="FFFFFF"/>
                </a:solidFill>
                <a:latin typeface="Aptos Display"/>
              </a:rPr>
              <a:t>Shiny Apps </a:t>
            </a:r>
            <a:endParaRPr lang="en-US" sz="3700" dirty="0">
              <a:solidFill>
                <a:srgbClr val="000000"/>
              </a:solidFill>
              <a:latin typeface="Aptos"/>
            </a:endParaRPr>
          </a:p>
          <a:p>
            <a:r>
              <a:rPr lang="en-US" sz="3700" b="1" dirty="0">
                <a:solidFill>
                  <a:srgbClr val="C40C3C"/>
                </a:solidFill>
                <a:latin typeface="Aptos Display"/>
              </a:rPr>
              <a:t>Built For Construction</a:t>
            </a:r>
            <a:endParaRPr lang="en-US" sz="3700" dirty="0"/>
          </a:p>
        </p:txBody>
      </p:sp>
      <p:sp>
        <p:nvSpPr>
          <p:cNvPr id="6" name="Text 4"/>
          <p:cNvSpPr/>
          <p:nvPr/>
        </p:nvSpPr>
        <p:spPr>
          <a:xfrm>
            <a:off x="731520" y="5175504"/>
            <a:ext cx="3474720" cy="329184"/>
          </a:xfrm>
          <a:prstGeom prst="rect">
            <a:avLst/>
          </a:prstGeom>
          <a:noFill/>
          <a:ln/>
        </p:spPr>
        <p:txBody>
          <a:bodyPr wrap="square" lIns="0" tIns="0" rIns="0" bIns="0" rtlCol="0" anchor="ctr"/>
          <a:lstStyle/>
          <a:p>
            <a:pPr marL="0" indent="0">
              <a:buNone/>
            </a:pPr>
            <a:r>
              <a:rPr lang="en-US" sz="2100" b="1" dirty="0">
                <a:solidFill>
                  <a:srgbClr val="FFFFFF"/>
                </a:solidFill>
                <a:latin typeface="Aptos Display" pitchFamily="34" charset="0"/>
                <a:ea typeface="Aptos Display" pitchFamily="34" charset="-122"/>
                <a:cs typeface="Aptos Display" pitchFamily="34" charset="-120"/>
              </a:rPr>
              <a:t>Lucas Da Silva</a:t>
            </a:r>
            <a:endParaRPr lang="en-US" sz="2100" dirty="0"/>
          </a:p>
        </p:txBody>
      </p:sp>
      <p:sp>
        <p:nvSpPr>
          <p:cNvPr id="7" name="Text 5"/>
          <p:cNvSpPr/>
          <p:nvPr/>
        </p:nvSpPr>
        <p:spPr>
          <a:xfrm>
            <a:off x="731520" y="5550408"/>
            <a:ext cx="5257800" cy="292608"/>
          </a:xfrm>
          <a:prstGeom prst="rect">
            <a:avLst/>
          </a:prstGeom>
          <a:noFill/>
          <a:ln/>
        </p:spPr>
        <p:txBody>
          <a:bodyPr wrap="square" lIns="0" tIns="0" rIns="0" bIns="0" rtlCol="0" anchor="ctr"/>
          <a:lstStyle/>
          <a:p>
            <a:pPr marL="0" indent="0">
              <a:buNone/>
            </a:pPr>
            <a:r>
              <a:rPr lang="en-US" sz="1270" dirty="0">
                <a:solidFill>
                  <a:srgbClr val="AFC0D1"/>
                </a:solidFill>
                <a:latin typeface="Aptos" pitchFamily="34" charset="0"/>
                <a:ea typeface="Aptos" pitchFamily="34" charset="-122"/>
                <a:cs typeface="Aptos" pitchFamily="34" charset="-120"/>
              </a:rPr>
              <a:t>Data Analyst, Data Product Team · Suffolk Construction</a:t>
            </a:r>
            <a:endParaRPr lang="en-US" sz="1270" dirty="0"/>
          </a:p>
        </p:txBody>
      </p:sp>
      <p:sp>
        <p:nvSpPr>
          <p:cNvPr id="8" name="Shape 6"/>
          <p:cNvSpPr/>
          <p:nvPr/>
        </p:nvSpPr>
        <p:spPr>
          <a:xfrm>
            <a:off x="8394192" y="658368"/>
            <a:ext cx="3017520" cy="5504688"/>
          </a:xfrm>
          <a:prstGeom prst="roundRect">
            <a:avLst>
              <a:gd name="adj" fmla="val 4242"/>
            </a:avLst>
          </a:prstGeom>
          <a:solidFill>
            <a:srgbClr val="0B2D52"/>
          </a:solidFill>
          <a:ln w="12700">
            <a:solidFill>
              <a:srgbClr val="244A70"/>
            </a:solidFill>
            <a:prstDash val="solid"/>
          </a:ln>
        </p:spPr>
        <p:txBody>
          <a:bodyPr/>
          <a:lstStyle/>
          <a:p>
            <a:endParaRPr lang="en-US"/>
          </a:p>
        </p:txBody>
      </p:sp>
      <p:sp>
        <p:nvSpPr>
          <p:cNvPr id="9" name="Text 7"/>
          <p:cNvSpPr/>
          <p:nvPr/>
        </p:nvSpPr>
        <p:spPr>
          <a:xfrm>
            <a:off x="8778240" y="987552"/>
            <a:ext cx="2194560" cy="237744"/>
          </a:xfrm>
          <a:prstGeom prst="rect">
            <a:avLst/>
          </a:prstGeom>
          <a:noFill/>
          <a:ln/>
        </p:spPr>
        <p:txBody>
          <a:bodyPr wrap="square" lIns="0" tIns="0" rIns="0" bIns="0" rtlCol="0" anchor="ctr"/>
          <a:lstStyle/>
          <a:p>
            <a:pPr marL="0" indent="0">
              <a:buNone/>
            </a:pPr>
            <a:r>
              <a:rPr lang="en-US" sz="1030" b="1" kern="0" spc="125" dirty="0">
                <a:solidFill>
                  <a:srgbClr val="DC7890"/>
                </a:solidFill>
                <a:latin typeface="Aptos" pitchFamily="34" charset="0"/>
                <a:ea typeface="Aptos" pitchFamily="34" charset="-122"/>
                <a:cs typeface="Aptos" pitchFamily="34" charset="-120"/>
              </a:rPr>
              <a:t>VERA NOTES</a:t>
            </a:r>
            <a:endParaRPr lang="en-US" sz="1030" dirty="0"/>
          </a:p>
        </p:txBody>
      </p:sp>
      <p:sp>
        <p:nvSpPr>
          <p:cNvPr id="10" name="Shape 8"/>
          <p:cNvSpPr/>
          <p:nvPr/>
        </p:nvSpPr>
        <p:spPr>
          <a:xfrm>
            <a:off x="8869680" y="1353312"/>
            <a:ext cx="2103120" cy="4206240"/>
          </a:xfrm>
          <a:prstGeom prst="roundRect">
            <a:avLst>
              <a:gd name="adj" fmla="val 6957"/>
            </a:avLst>
          </a:prstGeom>
          <a:solidFill>
            <a:srgbClr val="FFFFFF"/>
          </a:solidFill>
          <a:ln w="12700">
            <a:solidFill>
              <a:srgbClr val="C8D3DF"/>
            </a:solidFill>
            <a:prstDash val="solid"/>
          </a:ln>
          <a:effectLst>
            <a:outerShdw blurRad="27940" dist="15240" dir="2700000" algn="bl" rotWithShape="0">
              <a:srgbClr val="000000">
                <a:alpha val="16000"/>
              </a:srgbClr>
            </a:outerShdw>
          </a:effectLst>
        </p:spPr>
        <p:txBody>
          <a:bodyPr/>
          <a:lstStyle/>
          <a:p>
            <a:endParaRPr lang="en-US"/>
          </a:p>
        </p:txBody>
      </p:sp>
      <p:sp>
        <p:nvSpPr>
          <p:cNvPr id="12" name="Text 9"/>
          <p:cNvSpPr/>
          <p:nvPr/>
        </p:nvSpPr>
        <p:spPr>
          <a:xfrm>
            <a:off x="8741664" y="5696712"/>
            <a:ext cx="2331720" cy="228600"/>
          </a:xfrm>
          <a:prstGeom prst="rect">
            <a:avLst/>
          </a:prstGeom>
          <a:noFill/>
          <a:ln/>
        </p:spPr>
        <p:txBody>
          <a:bodyPr wrap="square" lIns="0" tIns="0" rIns="0" bIns="0" rtlCol="0" anchor="ctr"/>
          <a:lstStyle/>
          <a:p>
            <a:pPr marL="0" indent="0" algn="ctr">
              <a:buNone/>
            </a:pPr>
            <a:r>
              <a:rPr lang="en-US" sz="890" b="1" kern="0" spc="115" dirty="0">
                <a:solidFill>
                  <a:srgbClr val="AFC1D2"/>
                </a:solidFill>
                <a:latin typeface="Aptos" pitchFamily="34" charset="0"/>
                <a:ea typeface="Aptos" pitchFamily="34" charset="-122"/>
                <a:cs typeface="Aptos" pitchFamily="34" charset="-120"/>
              </a:rPr>
              <a:t>MOBILE  ·  VOICE  ·  ACTION</a:t>
            </a:r>
            <a:endParaRPr lang="en-US" sz="890" dirty="0"/>
          </a:p>
        </p:txBody>
      </p:sp>
      <p:pic>
        <p:nvPicPr>
          <p:cNvPr id="18" name="Picture 17">
            <a:extLst>
              <a:ext uri="{FF2B5EF4-FFF2-40B4-BE49-F238E27FC236}">
                <a16:creationId xmlns:a16="http://schemas.microsoft.com/office/drawing/2014/main" id="{8D58881A-6258-5CE6-7AF7-865BE2D5EC9F}"/>
              </a:ext>
            </a:extLst>
          </p:cNvPr>
          <p:cNvPicPr>
            <a:picLocks noChangeAspect="1"/>
          </p:cNvPicPr>
          <p:nvPr/>
        </p:nvPicPr>
        <p:blipFill>
          <a:blip r:embed="rId3"/>
          <a:stretch>
            <a:fillRect/>
          </a:stretch>
        </p:blipFill>
        <p:spPr>
          <a:xfrm>
            <a:off x="8889186" y="1353312"/>
            <a:ext cx="2064108" cy="4067761"/>
          </a:xfrm>
          <a:prstGeom prst="roundRect">
            <a:avLst>
              <a:gd name="adj" fmla="val 6670"/>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8FB"/>
        </a:solidFill>
        <a:effectLst/>
      </p:bgPr>
    </p:bg>
    <p:spTree>
      <p:nvGrpSpPr>
        <p:cNvPr id="1" name=""/>
        <p:cNvGrpSpPr/>
        <p:nvPr/>
      </p:nvGrpSpPr>
      <p:grpSpPr>
        <a:xfrm>
          <a:off x="0" y="0"/>
          <a:ext cx="0" cy="0"/>
          <a:chOff x="0" y="0"/>
          <a:chExt cx="0" cy="0"/>
        </a:xfrm>
      </p:grpSpPr>
      <p:sp>
        <p:nvSpPr>
          <p:cNvPr id="2" name="Shape 0"/>
          <p:cNvSpPr/>
          <p:nvPr/>
        </p:nvSpPr>
        <p:spPr>
          <a:xfrm>
            <a:off x="658368" y="438912"/>
            <a:ext cx="512064" cy="0"/>
          </a:xfrm>
          <a:prstGeom prst="line">
            <a:avLst/>
          </a:prstGeom>
          <a:noFill/>
          <a:ln w="50800">
            <a:solidFill>
              <a:srgbClr val="C40C3C"/>
            </a:solidFill>
            <a:prstDash val="solid"/>
          </a:ln>
        </p:spPr>
        <p:txBody>
          <a:bodyPr/>
          <a:lstStyle/>
          <a:p>
            <a:endParaRPr lang="en-US"/>
          </a:p>
        </p:txBody>
      </p:sp>
      <p:sp>
        <p:nvSpPr>
          <p:cNvPr id="3" name="Text 1"/>
          <p:cNvSpPr/>
          <p:nvPr/>
        </p:nvSpPr>
        <p:spPr>
          <a:xfrm>
            <a:off x="658368" y="603504"/>
            <a:ext cx="10607040" cy="457200"/>
          </a:xfrm>
          <a:prstGeom prst="rect">
            <a:avLst/>
          </a:prstGeom>
          <a:noFill/>
          <a:ln/>
        </p:spPr>
        <p:txBody>
          <a:bodyPr wrap="square" lIns="0" tIns="0" rIns="0" bIns="0" rtlCol="0" anchor="ctr"/>
          <a:lstStyle/>
          <a:p>
            <a:pPr marL="0" indent="0">
              <a:buNone/>
            </a:pPr>
            <a:r>
              <a:rPr lang="en-US" sz="3100" b="1" dirty="0">
                <a:solidFill>
                  <a:srgbClr val="071E41"/>
                </a:solidFill>
                <a:latin typeface="Aptos Display" pitchFamily="34" charset="0"/>
                <a:ea typeface="Aptos Display" pitchFamily="34" charset="-122"/>
                <a:cs typeface="Aptos Display" pitchFamily="34" charset="-120"/>
              </a:rPr>
              <a:t>A quick introduction</a:t>
            </a:r>
            <a:endParaRPr lang="en-US" sz="3100" dirty="0"/>
          </a:p>
        </p:txBody>
      </p:sp>
      <p:sp>
        <p:nvSpPr>
          <p:cNvPr id="4" name="Text 2"/>
          <p:cNvSpPr/>
          <p:nvPr/>
        </p:nvSpPr>
        <p:spPr>
          <a:xfrm>
            <a:off x="713232" y="1527048"/>
            <a:ext cx="4114800" cy="237744"/>
          </a:xfrm>
          <a:prstGeom prst="rect">
            <a:avLst/>
          </a:prstGeom>
          <a:noFill/>
          <a:ln/>
        </p:spPr>
        <p:txBody>
          <a:bodyPr wrap="square" lIns="0" tIns="0" rIns="0" bIns="0" rtlCol="0" anchor="ctr"/>
          <a:lstStyle/>
          <a:p>
            <a:pPr marL="0" indent="0">
              <a:buNone/>
            </a:pPr>
            <a:r>
              <a:rPr lang="en-US" sz="1120" b="1" kern="0" spc="145" dirty="0">
                <a:solidFill>
                  <a:srgbClr val="C40C3C"/>
                </a:solidFill>
                <a:latin typeface="Aptos" pitchFamily="34" charset="0"/>
                <a:ea typeface="Aptos" pitchFamily="34" charset="-122"/>
                <a:cs typeface="Aptos" pitchFamily="34" charset="-120"/>
              </a:rPr>
              <a:t>LUCAS DA SILVA</a:t>
            </a:r>
            <a:endParaRPr lang="en-US" sz="1120" dirty="0"/>
          </a:p>
        </p:txBody>
      </p:sp>
      <p:sp>
        <p:nvSpPr>
          <p:cNvPr id="5" name="Text 3"/>
          <p:cNvSpPr/>
          <p:nvPr/>
        </p:nvSpPr>
        <p:spPr>
          <a:xfrm>
            <a:off x="713232" y="1901952"/>
            <a:ext cx="3840480" cy="475488"/>
          </a:xfrm>
          <a:prstGeom prst="rect">
            <a:avLst/>
          </a:prstGeom>
          <a:noFill/>
          <a:ln/>
        </p:spPr>
        <p:txBody>
          <a:bodyPr wrap="square" lIns="0" tIns="0" rIns="0" bIns="0" rtlCol="0" anchor="ctr"/>
          <a:lstStyle/>
          <a:p>
            <a:pPr marL="0" indent="0">
              <a:buNone/>
            </a:pPr>
            <a:r>
              <a:rPr lang="en-US" sz="3400" b="1" dirty="0">
                <a:solidFill>
                  <a:srgbClr val="071E41"/>
                </a:solidFill>
                <a:latin typeface="Aptos Display" pitchFamily="34" charset="0"/>
                <a:ea typeface="Aptos Display" pitchFamily="34" charset="-122"/>
                <a:cs typeface="Aptos Display" pitchFamily="34" charset="-120"/>
              </a:rPr>
              <a:t>Data Analyst</a:t>
            </a:r>
            <a:endParaRPr lang="en-US" sz="3400" dirty="0"/>
          </a:p>
        </p:txBody>
      </p:sp>
      <p:sp>
        <p:nvSpPr>
          <p:cNvPr id="6" name="Text 4"/>
          <p:cNvSpPr/>
          <p:nvPr/>
        </p:nvSpPr>
        <p:spPr>
          <a:xfrm>
            <a:off x="731520" y="2423160"/>
            <a:ext cx="4480560" cy="329184"/>
          </a:xfrm>
          <a:prstGeom prst="rect">
            <a:avLst/>
          </a:prstGeom>
          <a:noFill/>
          <a:ln/>
        </p:spPr>
        <p:txBody>
          <a:bodyPr wrap="square" lIns="0" tIns="0" rIns="0" bIns="0" rtlCol="0" anchor="ctr"/>
          <a:lstStyle/>
          <a:p>
            <a:pPr marL="0" indent="0">
              <a:buNone/>
            </a:pPr>
            <a:r>
              <a:rPr lang="en-US" sz="1650" dirty="0">
                <a:solidFill>
                  <a:srgbClr val="5B6F8F"/>
                </a:solidFill>
                <a:latin typeface="Aptos" pitchFamily="34" charset="0"/>
                <a:ea typeface="Aptos" pitchFamily="34" charset="-122"/>
                <a:cs typeface="Aptos" pitchFamily="34" charset="-120"/>
              </a:rPr>
              <a:t>Data Product Team · Suffolk Construction</a:t>
            </a:r>
            <a:endParaRPr lang="en-US" sz="1650" dirty="0"/>
          </a:p>
        </p:txBody>
      </p:sp>
      <p:sp>
        <p:nvSpPr>
          <p:cNvPr id="7" name="Text 5"/>
          <p:cNvSpPr/>
          <p:nvPr/>
        </p:nvSpPr>
        <p:spPr>
          <a:xfrm>
            <a:off x="731520" y="3108960"/>
            <a:ext cx="4315968" cy="1234440"/>
          </a:xfrm>
          <a:prstGeom prst="rect">
            <a:avLst/>
          </a:prstGeom>
          <a:noFill/>
          <a:ln/>
        </p:spPr>
        <p:txBody>
          <a:bodyPr wrap="square" lIns="0" tIns="0" rIns="0" bIns="0" rtlCol="0" anchor="t"/>
          <a:lstStyle/>
          <a:p>
            <a:pPr marL="0" indent="0">
              <a:buNone/>
            </a:pPr>
            <a:r>
              <a:rPr lang="en-US" sz="2000" dirty="0">
                <a:solidFill>
                  <a:srgbClr val="071E41"/>
                </a:solidFill>
                <a:latin typeface="Aptos" pitchFamily="34" charset="0"/>
                <a:ea typeface="Aptos" pitchFamily="34" charset="-122"/>
                <a:cs typeface="Aptos" pitchFamily="34" charset="-120"/>
              </a:rPr>
              <a:t>I work on data products that help construction teams capture, structure, and act on information from their day-to-day workflows.</a:t>
            </a:r>
            <a:endParaRPr lang="en-US" sz="2000" dirty="0"/>
          </a:p>
        </p:txBody>
      </p:sp>
      <p:sp>
        <p:nvSpPr>
          <p:cNvPr id="8" name="Text 6"/>
          <p:cNvSpPr/>
          <p:nvPr/>
        </p:nvSpPr>
        <p:spPr>
          <a:xfrm>
            <a:off x="731520" y="4791456"/>
            <a:ext cx="2075688" cy="310896"/>
          </a:xfrm>
          <a:prstGeom prst="roundRect">
            <a:avLst>
              <a:gd name="adj" fmla="val 23529"/>
            </a:avLst>
          </a:prstGeom>
          <a:solidFill>
            <a:srgbClr val="F9E4EA"/>
          </a:solidFill>
          <a:ln>
            <a:solidFill>
              <a:srgbClr val="F9E4EA">
                <a:alpha val="0"/>
              </a:srgbClr>
            </a:solidFill>
          </a:ln>
        </p:spPr>
        <p:txBody>
          <a:bodyPr wrap="square" lIns="0" tIns="0" rIns="0" bIns="0" rtlCol="0" anchor="ctr"/>
          <a:lstStyle/>
          <a:p>
            <a:pPr marL="0" indent="0" algn="ctr">
              <a:buNone/>
            </a:pPr>
            <a:r>
              <a:rPr lang="en-US" sz="1040" b="1" kern="0" spc="90" dirty="0">
                <a:solidFill>
                  <a:srgbClr val="C40C3C"/>
                </a:solidFill>
                <a:latin typeface="Aptos" pitchFamily="34" charset="0"/>
                <a:ea typeface="Aptos" pitchFamily="34" charset="-122"/>
                <a:cs typeface="Aptos" pitchFamily="34" charset="-120"/>
              </a:rPr>
              <a:t>TODAY: VERA NOTES</a:t>
            </a:r>
            <a:endParaRPr lang="en-US" sz="1040" dirty="0"/>
          </a:p>
        </p:txBody>
      </p:sp>
      <p:sp>
        <p:nvSpPr>
          <p:cNvPr id="9" name="Text 7"/>
          <p:cNvSpPr/>
          <p:nvPr/>
        </p:nvSpPr>
        <p:spPr>
          <a:xfrm>
            <a:off x="740664" y="5230368"/>
            <a:ext cx="4251960" cy="658368"/>
          </a:xfrm>
          <a:prstGeom prst="rect">
            <a:avLst/>
          </a:prstGeom>
          <a:noFill/>
          <a:ln/>
        </p:spPr>
        <p:txBody>
          <a:bodyPr wrap="square" lIns="0" tIns="0" rIns="0" bIns="0" rtlCol="0" anchor="ctr"/>
          <a:lstStyle/>
          <a:p>
            <a:pPr marL="0" indent="0">
              <a:buNone/>
            </a:pPr>
            <a:r>
              <a:rPr lang="en-US" sz="1440" dirty="0">
                <a:solidFill>
                  <a:srgbClr val="5B6F8F"/>
                </a:solidFill>
                <a:latin typeface="Aptos" pitchFamily="34" charset="0"/>
                <a:ea typeface="Aptos" pitchFamily="34" charset="-122"/>
                <a:cs typeface="Aptos" pitchFamily="34" charset="-120"/>
              </a:rPr>
              <a:t>A voice-first daily-log workflow built as a mobile Shiny experience.</a:t>
            </a:r>
            <a:endParaRPr lang="en-US" sz="1440" dirty="0"/>
          </a:p>
        </p:txBody>
      </p:sp>
      <p:sp>
        <p:nvSpPr>
          <p:cNvPr id="10" name="Shape 8"/>
          <p:cNvSpPr/>
          <p:nvPr/>
        </p:nvSpPr>
        <p:spPr>
          <a:xfrm>
            <a:off x="5559552" y="1481328"/>
            <a:ext cx="3721608" cy="4315968"/>
          </a:xfrm>
          <a:prstGeom prst="rect">
            <a:avLst/>
          </a:prstGeom>
          <a:solidFill>
            <a:srgbClr val="FFFFFF"/>
          </a:solidFill>
          <a:ln w="12700">
            <a:solidFill>
              <a:srgbClr val="FFFFFF">
                <a:alpha val="0"/>
              </a:srgbClr>
            </a:solidFill>
            <a:prstDash val="solid"/>
          </a:ln>
          <a:effectLst>
            <a:outerShdw blurRad="25400" dist="13970" dir="2700000" algn="bl" rotWithShape="0">
              <a:srgbClr val="000000">
                <a:alpha val="14000"/>
              </a:srgbClr>
            </a:outerShdw>
          </a:effectLst>
        </p:spPr>
        <p:txBody>
          <a:bodyPr/>
          <a:lstStyle/>
          <a:p>
            <a:endParaRPr lang="en-US"/>
          </a:p>
        </p:txBody>
      </p:sp>
      <p:pic>
        <p:nvPicPr>
          <p:cNvPr id="11" name="Image 0" descr="/mnt/data/vera_notes_red_theme_work/site_photo_people_crop.jpg"/>
          <p:cNvPicPr>
            <a:picLocks noChangeAspect="1"/>
          </p:cNvPicPr>
          <p:nvPr/>
        </p:nvPicPr>
        <p:blipFill>
          <a:blip r:embed="rId3"/>
          <a:srcRect t="50" b="50"/>
          <a:stretch/>
        </p:blipFill>
        <p:spPr>
          <a:xfrm>
            <a:off x="5596128" y="1517904"/>
            <a:ext cx="3648456" cy="4242816"/>
          </a:xfrm>
          <a:prstGeom prst="rect">
            <a:avLst/>
          </a:prstGeom>
        </p:spPr>
      </p:pic>
      <p:sp>
        <p:nvSpPr>
          <p:cNvPr id="12" name="Shape 9"/>
          <p:cNvSpPr/>
          <p:nvPr/>
        </p:nvSpPr>
        <p:spPr>
          <a:xfrm>
            <a:off x="5596128" y="5276088"/>
            <a:ext cx="3648456" cy="484632"/>
          </a:xfrm>
          <a:prstGeom prst="rect">
            <a:avLst/>
          </a:prstGeom>
          <a:solidFill>
            <a:srgbClr val="001C40">
              <a:alpha val="94000"/>
            </a:srgbClr>
          </a:solidFill>
          <a:ln w="12700">
            <a:solidFill>
              <a:srgbClr val="001C40">
                <a:alpha val="0"/>
              </a:srgbClr>
            </a:solidFill>
            <a:prstDash val="solid"/>
          </a:ln>
        </p:spPr>
        <p:txBody>
          <a:bodyPr/>
          <a:lstStyle/>
          <a:p>
            <a:endParaRPr lang="en-US"/>
          </a:p>
        </p:txBody>
      </p:sp>
      <p:sp>
        <p:nvSpPr>
          <p:cNvPr id="13" name="Shape 10"/>
          <p:cNvSpPr/>
          <p:nvPr/>
        </p:nvSpPr>
        <p:spPr>
          <a:xfrm>
            <a:off x="5779008" y="5276088"/>
            <a:ext cx="402336" cy="0"/>
          </a:xfrm>
          <a:prstGeom prst="line">
            <a:avLst/>
          </a:prstGeom>
          <a:noFill/>
          <a:ln w="50800">
            <a:solidFill>
              <a:srgbClr val="C40C3C"/>
            </a:solidFill>
            <a:prstDash val="solid"/>
          </a:ln>
        </p:spPr>
        <p:txBody>
          <a:bodyPr/>
          <a:lstStyle/>
          <a:p>
            <a:endParaRPr lang="en-US"/>
          </a:p>
        </p:txBody>
      </p:sp>
      <p:sp>
        <p:nvSpPr>
          <p:cNvPr id="14" name="Text 11"/>
          <p:cNvSpPr/>
          <p:nvPr/>
        </p:nvSpPr>
        <p:spPr>
          <a:xfrm>
            <a:off x="5779008" y="5413248"/>
            <a:ext cx="3227832" cy="182880"/>
          </a:xfrm>
          <a:prstGeom prst="rect">
            <a:avLst/>
          </a:prstGeom>
          <a:noFill/>
          <a:ln/>
        </p:spPr>
        <p:txBody>
          <a:bodyPr wrap="square" lIns="0" tIns="0" rIns="0" bIns="0" rtlCol="0" anchor="ctr"/>
          <a:lstStyle/>
          <a:p>
            <a:pPr marL="0" indent="0">
              <a:buNone/>
            </a:pPr>
            <a:r>
              <a:rPr lang="en-US" sz="890" b="1" kern="0" spc="100" dirty="0">
                <a:solidFill>
                  <a:srgbClr val="FFFFFF"/>
                </a:solidFill>
                <a:latin typeface="Aptos" pitchFamily="34" charset="0"/>
                <a:ea typeface="Aptos" pitchFamily="34" charset="-122"/>
                <a:cs typeface="Aptos" pitchFamily="34" charset="-120"/>
              </a:rPr>
              <a:t>ON SITE WITH THE SUFFOLK TEAM</a:t>
            </a:r>
            <a:endParaRPr lang="en-US" sz="890" dirty="0"/>
          </a:p>
        </p:txBody>
      </p:sp>
      <p:sp>
        <p:nvSpPr>
          <p:cNvPr id="15" name="Shape 12"/>
          <p:cNvSpPr/>
          <p:nvPr/>
        </p:nvSpPr>
        <p:spPr>
          <a:xfrm>
            <a:off x="9464040" y="1517904"/>
            <a:ext cx="2002536" cy="2048256"/>
          </a:xfrm>
          <a:prstGeom prst="roundRect">
            <a:avLst>
              <a:gd name="adj" fmla="val 3653"/>
            </a:avLst>
          </a:prstGeom>
          <a:solidFill>
            <a:srgbClr val="0B2D52"/>
          </a:solidFill>
          <a:ln w="12700">
            <a:solidFill>
              <a:srgbClr val="0B2D52">
                <a:alpha val="0"/>
              </a:srgbClr>
            </a:solidFill>
            <a:prstDash val="solid"/>
          </a:ln>
        </p:spPr>
        <p:txBody>
          <a:bodyPr/>
          <a:lstStyle/>
          <a:p>
            <a:endParaRPr lang="en-US"/>
          </a:p>
        </p:txBody>
      </p:sp>
      <p:sp>
        <p:nvSpPr>
          <p:cNvPr id="16" name="Text 13"/>
          <p:cNvSpPr/>
          <p:nvPr/>
        </p:nvSpPr>
        <p:spPr>
          <a:xfrm>
            <a:off x="9692640" y="1792224"/>
            <a:ext cx="1234440" cy="201168"/>
          </a:xfrm>
          <a:prstGeom prst="rect">
            <a:avLst/>
          </a:prstGeom>
          <a:noFill/>
          <a:ln/>
        </p:spPr>
        <p:txBody>
          <a:bodyPr wrap="square" lIns="0" tIns="0" rIns="0" bIns="0" rtlCol="0" anchor="ctr"/>
          <a:lstStyle/>
          <a:p>
            <a:pPr marL="0" indent="0">
              <a:buNone/>
            </a:pPr>
            <a:r>
              <a:rPr lang="en-US" sz="920" b="1" kern="0" spc="140" dirty="0">
                <a:solidFill>
                  <a:srgbClr val="DC7890"/>
                </a:solidFill>
                <a:latin typeface="Aptos" pitchFamily="34" charset="0"/>
                <a:ea typeface="Aptos" pitchFamily="34" charset="-122"/>
                <a:cs typeface="Aptos" pitchFamily="34" charset="-120"/>
              </a:rPr>
              <a:t>CONTEXT</a:t>
            </a:r>
            <a:endParaRPr lang="en-US" sz="920" dirty="0"/>
          </a:p>
        </p:txBody>
      </p:sp>
      <p:sp>
        <p:nvSpPr>
          <p:cNvPr id="17" name="Text 14"/>
          <p:cNvSpPr/>
          <p:nvPr/>
        </p:nvSpPr>
        <p:spPr>
          <a:xfrm>
            <a:off x="9692640" y="2139696"/>
            <a:ext cx="1536192" cy="932688"/>
          </a:xfrm>
          <a:prstGeom prst="rect">
            <a:avLst/>
          </a:prstGeom>
          <a:noFill/>
          <a:ln/>
        </p:spPr>
        <p:txBody>
          <a:bodyPr wrap="square" lIns="0" tIns="0" rIns="0" bIns="0" rtlCol="0" anchor="ctr"/>
          <a:lstStyle/>
          <a:p>
            <a:pPr marL="0" indent="0">
              <a:buNone/>
            </a:pPr>
            <a:r>
              <a:rPr lang="en-US" sz="1800" b="1" dirty="0">
                <a:solidFill>
                  <a:srgbClr val="FFFFFF"/>
                </a:solidFill>
                <a:latin typeface="Aptos Display" pitchFamily="34" charset="0"/>
                <a:ea typeface="Aptos Display" pitchFamily="34" charset="-122"/>
                <a:cs typeface="Aptos Display" pitchFamily="34" charset="-120"/>
              </a:rPr>
              <a:t>Construction work happens away from the desk.</a:t>
            </a:r>
            <a:endParaRPr lang="en-US" sz="1800" dirty="0"/>
          </a:p>
        </p:txBody>
      </p:sp>
      <p:sp>
        <p:nvSpPr>
          <p:cNvPr id="18" name="Shape 15"/>
          <p:cNvSpPr/>
          <p:nvPr/>
        </p:nvSpPr>
        <p:spPr>
          <a:xfrm>
            <a:off x="9692640" y="3364992"/>
            <a:ext cx="420624" cy="0"/>
          </a:xfrm>
          <a:prstGeom prst="line">
            <a:avLst/>
          </a:prstGeom>
          <a:noFill/>
          <a:ln w="50800">
            <a:solidFill>
              <a:srgbClr val="C40C3C"/>
            </a:solidFill>
            <a:prstDash val="solid"/>
          </a:ln>
        </p:spPr>
        <p:txBody>
          <a:bodyPr/>
          <a:lstStyle/>
          <a:p>
            <a:endParaRPr lang="en-US"/>
          </a:p>
        </p:txBody>
      </p:sp>
      <p:sp>
        <p:nvSpPr>
          <p:cNvPr id="19" name="Shape 16"/>
          <p:cNvSpPr/>
          <p:nvPr/>
        </p:nvSpPr>
        <p:spPr>
          <a:xfrm>
            <a:off x="9464040" y="3803904"/>
            <a:ext cx="2002536" cy="1956816"/>
          </a:xfrm>
          <a:prstGeom prst="roundRect">
            <a:avLst>
              <a:gd name="adj" fmla="val 3738"/>
            </a:avLst>
          </a:prstGeom>
          <a:solidFill>
            <a:srgbClr val="F1F4F8"/>
          </a:solidFill>
          <a:ln w="17780">
            <a:solidFill>
              <a:srgbClr val="B8C5D5"/>
            </a:solidFill>
            <a:prstDash val="solid"/>
          </a:ln>
        </p:spPr>
        <p:txBody>
          <a:bodyPr/>
          <a:lstStyle/>
          <a:p>
            <a:endParaRPr lang="en-US"/>
          </a:p>
        </p:txBody>
      </p:sp>
      <p:pic>
        <p:nvPicPr>
          <p:cNvPr id="29" name="Picture 28">
            <a:extLst>
              <a:ext uri="{FF2B5EF4-FFF2-40B4-BE49-F238E27FC236}">
                <a16:creationId xmlns:a16="http://schemas.microsoft.com/office/drawing/2014/main" id="{6362335E-76A3-6476-5AAA-926A235CBF5F}"/>
              </a:ext>
            </a:extLst>
          </p:cNvPr>
          <p:cNvPicPr>
            <a:picLocks noChangeAspect="1"/>
          </p:cNvPicPr>
          <p:nvPr/>
        </p:nvPicPr>
        <p:blipFill>
          <a:blip r:embed="rId4"/>
          <a:stretch>
            <a:fillRect/>
          </a:stretch>
        </p:blipFill>
        <p:spPr>
          <a:xfrm>
            <a:off x="9397210" y="3728085"/>
            <a:ext cx="2151662" cy="215798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a:extLst>
            <a:ext uri="{FF2B5EF4-FFF2-40B4-BE49-F238E27FC236}">
              <a16:creationId xmlns:a16="http://schemas.microsoft.com/office/drawing/2014/main" id="{04E7EBF0-5587-4382-8512-8D3B85445F0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1ED2C09-4E66-0446-9596-F159721DFF61}"/>
              </a:ext>
            </a:extLst>
          </p:cNvPr>
          <p:cNvSpPr/>
          <p:nvPr/>
        </p:nvSpPr>
        <p:spPr>
          <a:xfrm>
            <a:off x="658368" y="438912"/>
            <a:ext cx="512064" cy="0"/>
          </a:xfrm>
          <a:prstGeom prst="line">
            <a:avLst/>
          </a:prstGeom>
          <a:noFill/>
          <a:ln w="50800">
            <a:solidFill>
              <a:srgbClr val="C40C3C"/>
            </a:solidFill>
            <a:prstDash val="solid"/>
          </a:ln>
        </p:spPr>
        <p:txBody>
          <a:bodyPr/>
          <a:lstStyle/>
          <a:p>
            <a:endParaRPr lang="en-US"/>
          </a:p>
        </p:txBody>
      </p:sp>
      <p:sp>
        <p:nvSpPr>
          <p:cNvPr id="3" name="Text 1">
            <a:extLst>
              <a:ext uri="{FF2B5EF4-FFF2-40B4-BE49-F238E27FC236}">
                <a16:creationId xmlns:a16="http://schemas.microsoft.com/office/drawing/2014/main" id="{162767CE-A2B6-5F01-4D80-F9F20242B545}"/>
              </a:ext>
            </a:extLst>
          </p:cNvPr>
          <p:cNvSpPr/>
          <p:nvPr/>
        </p:nvSpPr>
        <p:spPr>
          <a:xfrm>
            <a:off x="658368" y="603504"/>
            <a:ext cx="10607040" cy="457200"/>
          </a:xfrm>
          <a:prstGeom prst="rect">
            <a:avLst/>
          </a:prstGeom>
          <a:noFill/>
          <a:ln/>
        </p:spPr>
        <p:txBody>
          <a:bodyPr wrap="square" lIns="0" tIns="0" rIns="0" bIns="0" rtlCol="0" anchor="ctr"/>
          <a:lstStyle/>
          <a:p>
            <a:pPr marL="0" indent="0">
              <a:buNone/>
            </a:pPr>
            <a:r>
              <a:rPr lang="en-US" sz="3100" b="1" dirty="0">
                <a:solidFill>
                  <a:srgbClr val="071E41"/>
                </a:solidFill>
                <a:latin typeface="Aptos Display" pitchFamily="34" charset="0"/>
                <a:ea typeface="Aptos Display" pitchFamily="34" charset="-122"/>
                <a:cs typeface="Aptos Display" pitchFamily="34" charset="-120"/>
              </a:rPr>
              <a:t>A (Very) Brief Overview of Construction Scheduling</a:t>
            </a:r>
            <a:endParaRPr lang="en-US" sz="3100" dirty="0"/>
          </a:p>
        </p:txBody>
      </p:sp>
      <p:sp>
        <p:nvSpPr>
          <p:cNvPr id="14" name="Text 11">
            <a:extLst>
              <a:ext uri="{FF2B5EF4-FFF2-40B4-BE49-F238E27FC236}">
                <a16:creationId xmlns:a16="http://schemas.microsoft.com/office/drawing/2014/main" id="{7F897995-7768-8CD8-C33A-AA83C6E678D5}"/>
              </a:ext>
            </a:extLst>
          </p:cNvPr>
          <p:cNvSpPr/>
          <p:nvPr/>
        </p:nvSpPr>
        <p:spPr>
          <a:xfrm>
            <a:off x="5779008" y="5413248"/>
            <a:ext cx="3227832" cy="182880"/>
          </a:xfrm>
          <a:prstGeom prst="rect">
            <a:avLst/>
          </a:prstGeom>
          <a:noFill/>
          <a:ln/>
        </p:spPr>
        <p:txBody>
          <a:bodyPr wrap="square" lIns="0" tIns="0" rIns="0" bIns="0" rtlCol="0" anchor="ctr"/>
          <a:lstStyle/>
          <a:p>
            <a:pPr marL="0" indent="0">
              <a:buNone/>
            </a:pPr>
            <a:r>
              <a:rPr lang="en-US" sz="890" b="1" kern="0" spc="100" dirty="0">
                <a:solidFill>
                  <a:srgbClr val="FFFFFF"/>
                </a:solidFill>
                <a:latin typeface="Aptos" pitchFamily="34" charset="0"/>
                <a:ea typeface="Aptos" pitchFamily="34" charset="-122"/>
                <a:cs typeface="Aptos" pitchFamily="34" charset="-120"/>
              </a:rPr>
              <a:t>ON SITE WITH THE SUFFOLK TEAM</a:t>
            </a:r>
            <a:endParaRPr lang="en-US" sz="890" dirty="0"/>
          </a:p>
        </p:txBody>
      </p:sp>
      <p:sp>
        <p:nvSpPr>
          <p:cNvPr id="23" name="Text 3">
            <a:extLst>
              <a:ext uri="{FF2B5EF4-FFF2-40B4-BE49-F238E27FC236}">
                <a16:creationId xmlns:a16="http://schemas.microsoft.com/office/drawing/2014/main" id="{3EF03BF3-5428-CFAE-7EFE-31672146C1CB}"/>
              </a:ext>
            </a:extLst>
          </p:cNvPr>
          <p:cNvSpPr/>
          <p:nvPr/>
        </p:nvSpPr>
        <p:spPr>
          <a:xfrm>
            <a:off x="658368" y="1124712"/>
            <a:ext cx="5910072" cy="5311140"/>
          </a:xfrm>
          <a:prstGeom prst="rect">
            <a:avLst/>
          </a:prstGeom>
          <a:noFill/>
          <a:ln/>
        </p:spPr>
        <p:txBody>
          <a:bodyPr wrap="square" lIns="0" tIns="0" rIns="0" bIns="0" rtlCol="0" anchor="ctr"/>
          <a:lstStyle/>
          <a:p>
            <a:pPr marL="0" indent="0">
              <a:lnSpc>
                <a:spcPct val="150000"/>
              </a:lnSpc>
              <a:buNone/>
            </a:pPr>
            <a:r>
              <a:rPr lang="en-US" sz="2400" b="1" dirty="0">
                <a:solidFill>
                  <a:srgbClr val="071E41"/>
                </a:solidFill>
                <a:latin typeface="Aptos Display" pitchFamily="34" charset="0"/>
                <a:ea typeface="Aptos Display" pitchFamily="34" charset="-122"/>
                <a:cs typeface="Aptos Display" pitchFamily="34" charset="-120"/>
              </a:rPr>
              <a:t>What is a Construction Schedule?</a:t>
            </a:r>
          </a:p>
          <a:p>
            <a:pPr marL="800100" lvl="1" indent="-342900">
              <a:lnSpc>
                <a:spcPct val="150000"/>
              </a:lnSpc>
              <a:buFont typeface="Arial" panose="020B0604020202020204" pitchFamily="34" charset="0"/>
              <a:buChar char="•"/>
            </a:pPr>
            <a:r>
              <a:rPr lang="en-US" sz="2400" dirty="0">
                <a:solidFill>
                  <a:srgbClr val="071E41"/>
                </a:solidFill>
                <a:latin typeface="Aptos Display" pitchFamily="34" charset="0"/>
              </a:rPr>
              <a:t>High-level overview of a construction job </a:t>
            </a:r>
            <a:r>
              <a:rPr lang="en-US" sz="2400" b="1" dirty="0">
                <a:solidFill>
                  <a:srgbClr val="071E41"/>
                </a:solidFill>
                <a:latin typeface="Aptos Display" pitchFamily="34" charset="0"/>
              </a:rPr>
              <a:t>task by task</a:t>
            </a:r>
          </a:p>
          <a:p>
            <a:pPr marL="800100" lvl="1" indent="-342900">
              <a:lnSpc>
                <a:spcPct val="150000"/>
              </a:lnSpc>
              <a:buFont typeface="Arial" panose="020B0604020202020204" pitchFamily="34" charset="0"/>
              <a:buChar char="•"/>
            </a:pPr>
            <a:r>
              <a:rPr lang="en-US" sz="2400" dirty="0">
                <a:solidFill>
                  <a:srgbClr val="071E41"/>
                </a:solidFill>
                <a:latin typeface="Aptos Display" pitchFamily="34" charset="0"/>
              </a:rPr>
              <a:t>Contractual document</a:t>
            </a:r>
          </a:p>
          <a:p>
            <a:pPr marL="800100" lvl="1" indent="-342900">
              <a:lnSpc>
                <a:spcPct val="150000"/>
              </a:lnSpc>
              <a:buFont typeface="Arial" panose="020B0604020202020204" pitchFamily="34" charset="0"/>
              <a:buChar char="•"/>
            </a:pPr>
            <a:r>
              <a:rPr lang="en-US" sz="2400" dirty="0">
                <a:solidFill>
                  <a:srgbClr val="071E41"/>
                </a:solidFill>
                <a:latin typeface="Aptos Display" pitchFamily="34" charset="0"/>
              </a:rPr>
              <a:t>Owned by a </a:t>
            </a:r>
            <a:r>
              <a:rPr lang="en-US" sz="2400" b="1" dirty="0">
                <a:solidFill>
                  <a:srgbClr val="071E41"/>
                </a:solidFill>
                <a:latin typeface="Aptos Display" pitchFamily="34" charset="0"/>
              </a:rPr>
              <a:t>Planner</a:t>
            </a:r>
          </a:p>
          <a:p>
            <a:pPr>
              <a:lnSpc>
                <a:spcPct val="150000"/>
              </a:lnSpc>
            </a:pPr>
            <a:r>
              <a:rPr lang="en-US" sz="2400" b="1" dirty="0">
                <a:solidFill>
                  <a:srgbClr val="071E41"/>
                </a:solidFill>
                <a:latin typeface="Aptos Display" pitchFamily="34" charset="0"/>
              </a:rPr>
              <a:t>How are Construction Schedules Maintained?</a:t>
            </a:r>
          </a:p>
          <a:p>
            <a:pPr marL="800100" lvl="1" indent="-342900">
              <a:lnSpc>
                <a:spcPct val="150000"/>
              </a:lnSpc>
              <a:buFont typeface="Arial" panose="020B0604020202020204" pitchFamily="34" charset="0"/>
              <a:buChar char="•"/>
            </a:pPr>
            <a:r>
              <a:rPr lang="en-US" sz="2400" dirty="0">
                <a:solidFill>
                  <a:srgbClr val="071E41"/>
                </a:solidFill>
                <a:latin typeface="Aptos Display" pitchFamily="34" charset="0"/>
              </a:rPr>
              <a:t>Updates come in from </a:t>
            </a:r>
            <a:r>
              <a:rPr lang="en-US" sz="2400" b="1" dirty="0">
                <a:solidFill>
                  <a:srgbClr val="071E41"/>
                </a:solidFill>
                <a:latin typeface="Aptos Display" pitchFamily="34" charset="0"/>
              </a:rPr>
              <a:t>Superintendents</a:t>
            </a:r>
          </a:p>
          <a:p>
            <a:pPr marL="800100" lvl="1" indent="-342900">
              <a:lnSpc>
                <a:spcPct val="150000"/>
              </a:lnSpc>
              <a:buFont typeface="Arial" panose="020B0604020202020204" pitchFamily="34" charset="0"/>
              <a:buChar char="•"/>
            </a:pPr>
            <a:r>
              <a:rPr lang="en-US" sz="2400" b="1" dirty="0">
                <a:solidFill>
                  <a:srgbClr val="071E41"/>
                </a:solidFill>
                <a:latin typeface="Aptos Display" pitchFamily="34" charset="0"/>
              </a:rPr>
              <a:t>Planner</a:t>
            </a:r>
            <a:r>
              <a:rPr lang="en-US" sz="2400" dirty="0">
                <a:solidFill>
                  <a:srgbClr val="071E41"/>
                </a:solidFill>
                <a:latin typeface="Aptos Display" pitchFamily="34" charset="0"/>
              </a:rPr>
              <a:t> owns the contractual document</a:t>
            </a:r>
          </a:p>
          <a:p>
            <a:pPr marL="800100" lvl="1" indent="-342900">
              <a:lnSpc>
                <a:spcPct val="150000"/>
              </a:lnSpc>
              <a:buFont typeface="Arial" panose="020B0604020202020204" pitchFamily="34" charset="0"/>
              <a:buChar char="•"/>
            </a:pPr>
            <a:r>
              <a:rPr lang="en-US" sz="2400" b="1" dirty="0">
                <a:solidFill>
                  <a:srgbClr val="071E41"/>
                </a:solidFill>
                <a:latin typeface="Aptos Display" pitchFamily="34" charset="0"/>
              </a:rPr>
              <a:t>Superintendents</a:t>
            </a:r>
            <a:r>
              <a:rPr lang="en-US" sz="2400" dirty="0">
                <a:solidFill>
                  <a:srgbClr val="071E41"/>
                </a:solidFill>
                <a:latin typeface="Aptos Display" pitchFamily="34" charset="0"/>
              </a:rPr>
              <a:t> manage daily execution of the job and provide updates</a:t>
            </a:r>
          </a:p>
        </p:txBody>
      </p:sp>
      <p:pic>
        <p:nvPicPr>
          <p:cNvPr id="24" name="Picture 23" descr="How a Project Manager Performs an Effective Project Schedule Review">
            <a:extLst>
              <a:ext uri="{FF2B5EF4-FFF2-40B4-BE49-F238E27FC236}">
                <a16:creationId xmlns:a16="http://schemas.microsoft.com/office/drawing/2014/main" id="{3AE57965-7CCA-15DC-67F4-E0168A425514}"/>
              </a:ext>
            </a:extLst>
          </p:cNvPr>
          <p:cNvPicPr>
            <a:picLocks noChangeAspect="1"/>
          </p:cNvPicPr>
          <p:nvPr/>
        </p:nvPicPr>
        <p:blipFill>
          <a:blip r:embed="rId3"/>
          <a:stretch>
            <a:fillRect/>
          </a:stretch>
        </p:blipFill>
        <p:spPr>
          <a:xfrm>
            <a:off x="7230862" y="1261872"/>
            <a:ext cx="4270959" cy="2472920"/>
          </a:xfrm>
          <a:prstGeom prst="rect">
            <a:avLst/>
          </a:prstGeom>
        </p:spPr>
      </p:pic>
      <p:pic>
        <p:nvPicPr>
          <p:cNvPr id="25" name="Picture 24" descr="Delay Claim: Lessons From A Primavera P6 Planner">
            <a:extLst>
              <a:ext uri="{FF2B5EF4-FFF2-40B4-BE49-F238E27FC236}">
                <a16:creationId xmlns:a16="http://schemas.microsoft.com/office/drawing/2014/main" id="{051519E7-8C8D-52BA-A513-CD22C1966984}"/>
              </a:ext>
            </a:extLst>
          </p:cNvPr>
          <p:cNvPicPr>
            <a:picLocks noChangeAspect="1"/>
          </p:cNvPicPr>
          <p:nvPr/>
        </p:nvPicPr>
        <p:blipFill>
          <a:blip r:embed="rId4"/>
          <a:stretch>
            <a:fillRect/>
          </a:stretch>
        </p:blipFill>
        <p:spPr>
          <a:xfrm>
            <a:off x="7262673" y="3838194"/>
            <a:ext cx="4239148" cy="2571750"/>
          </a:xfrm>
          <a:prstGeom prst="rect">
            <a:avLst/>
          </a:prstGeom>
        </p:spPr>
      </p:pic>
    </p:spTree>
    <p:extLst>
      <p:ext uri="{BB962C8B-B14F-4D97-AF65-F5344CB8AC3E}">
        <p14:creationId xmlns:p14="http://schemas.microsoft.com/office/powerpoint/2010/main" val="4246397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a:extLst>
            <a:ext uri="{FF2B5EF4-FFF2-40B4-BE49-F238E27FC236}">
              <a16:creationId xmlns:a16="http://schemas.microsoft.com/office/drawing/2014/main" id="{EEDC8BDA-D206-9252-E93D-DE2C63DF2B7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546773E-4F21-40F9-2278-883259BB88B7}"/>
              </a:ext>
            </a:extLst>
          </p:cNvPr>
          <p:cNvSpPr/>
          <p:nvPr/>
        </p:nvSpPr>
        <p:spPr>
          <a:xfrm>
            <a:off x="658368" y="438912"/>
            <a:ext cx="512064" cy="0"/>
          </a:xfrm>
          <a:prstGeom prst="line">
            <a:avLst/>
          </a:prstGeom>
          <a:noFill/>
          <a:ln w="50800">
            <a:solidFill>
              <a:srgbClr val="C40C3C"/>
            </a:solidFill>
            <a:prstDash val="solid"/>
          </a:ln>
        </p:spPr>
        <p:txBody>
          <a:bodyPr/>
          <a:lstStyle/>
          <a:p>
            <a:endParaRPr lang="en-US"/>
          </a:p>
        </p:txBody>
      </p:sp>
      <p:sp>
        <p:nvSpPr>
          <p:cNvPr id="3" name="Text 1">
            <a:extLst>
              <a:ext uri="{FF2B5EF4-FFF2-40B4-BE49-F238E27FC236}">
                <a16:creationId xmlns:a16="http://schemas.microsoft.com/office/drawing/2014/main" id="{95B59394-CEA5-A86E-8DB5-9A59523C77F3}"/>
              </a:ext>
            </a:extLst>
          </p:cNvPr>
          <p:cNvSpPr/>
          <p:nvPr/>
        </p:nvSpPr>
        <p:spPr>
          <a:xfrm>
            <a:off x="658368" y="603504"/>
            <a:ext cx="10607040" cy="457200"/>
          </a:xfrm>
          <a:prstGeom prst="rect">
            <a:avLst/>
          </a:prstGeom>
          <a:noFill/>
          <a:ln/>
        </p:spPr>
        <p:txBody>
          <a:bodyPr wrap="square" lIns="0" tIns="0" rIns="0" bIns="0" rtlCol="0" anchor="ctr"/>
          <a:lstStyle/>
          <a:p>
            <a:r>
              <a:rPr lang="en-US" sz="3100" b="1" dirty="0">
                <a:solidFill>
                  <a:srgbClr val="071E41"/>
                </a:solidFill>
                <a:latin typeface="Aptos Display"/>
              </a:rPr>
              <a:t>The Problem</a:t>
            </a:r>
            <a:endParaRPr lang="en-US" dirty="0"/>
          </a:p>
        </p:txBody>
      </p:sp>
      <p:sp>
        <p:nvSpPr>
          <p:cNvPr id="4" name="Text 2">
            <a:extLst>
              <a:ext uri="{FF2B5EF4-FFF2-40B4-BE49-F238E27FC236}">
                <a16:creationId xmlns:a16="http://schemas.microsoft.com/office/drawing/2014/main" id="{2BF7460A-3E7F-A15D-6214-E47467092580}"/>
              </a:ext>
            </a:extLst>
          </p:cNvPr>
          <p:cNvSpPr/>
          <p:nvPr/>
        </p:nvSpPr>
        <p:spPr>
          <a:xfrm>
            <a:off x="676656" y="1143000"/>
            <a:ext cx="10469880" cy="329184"/>
          </a:xfrm>
          <a:prstGeom prst="rect">
            <a:avLst/>
          </a:prstGeom>
          <a:noFill/>
          <a:ln/>
        </p:spPr>
        <p:txBody>
          <a:bodyPr wrap="square" lIns="0" tIns="0" rIns="0" bIns="0" rtlCol="0" anchor="ctr"/>
          <a:lstStyle/>
          <a:p>
            <a:r>
              <a:rPr lang="en-US" sz="1600" dirty="0">
                <a:solidFill>
                  <a:srgbClr val="5B6F8F"/>
                </a:solidFill>
                <a:latin typeface="Aptos"/>
              </a:rPr>
              <a:t>The Worst Case of the Current Workflow Visualized as a Comic Book Strip</a:t>
            </a:r>
            <a:endParaRPr lang="en-US" dirty="0"/>
          </a:p>
        </p:txBody>
      </p:sp>
      <p:sp>
        <p:nvSpPr>
          <p:cNvPr id="53" name="Text 51">
            <a:extLst>
              <a:ext uri="{FF2B5EF4-FFF2-40B4-BE49-F238E27FC236}">
                <a16:creationId xmlns:a16="http://schemas.microsoft.com/office/drawing/2014/main" id="{C79E904E-A0CD-09EB-CF25-BBA07CA794BF}"/>
              </a:ext>
            </a:extLst>
          </p:cNvPr>
          <p:cNvSpPr/>
          <p:nvPr/>
        </p:nvSpPr>
        <p:spPr>
          <a:xfrm>
            <a:off x="2501246" y="5120640"/>
            <a:ext cx="8366760" cy="493776"/>
          </a:xfrm>
          <a:prstGeom prst="rect">
            <a:avLst/>
          </a:prstGeom>
          <a:noFill/>
          <a:ln/>
        </p:spPr>
        <p:txBody>
          <a:bodyPr wrap="square" lIns="0" tIns="0" rIns="0" bIns="0" rtlCol="0" anchor="ctr"/>
          <a:lstStyle/>
          <a:p>
            <a:pPr marL="0" indent="0">
              <a:buNone/>
            </a:pPr>
            <a:r>
              <a:rPr lang="en-US" sz="2150" b="1" dirty="0">
                <a:solidFill>
                  <a:srgbClr val="FFFFFF"/>
                </a:solidFill>
                <a:latin typeface="Aptos Display" pitchFamily="34" charset="0"/>
                <a:ea typeface="Aptos Display" pitchFamily="34" charset="-122"/>
                <a:cs typeface="Aptos Display" pitchFamily="34" charset="-120"/>
              </a:rPr>
              <a:t>Capture the note once—while the context is fresh—and make it actionable from the beginning.</a:t>
            </a:r>
            <a:endParaRPr lang="en-US" sz="2150" dirty="0"/>
          </a:p>
        </p:txBody>
      </p:sp>
      <p:pic>
        <p:nvPicPr>
          <p:cNvPr id="54" name="Picture 53">
            <a:extLst>
              <a:ext uri="{FF2B5EF4-FFF2-40B4-BE49-F238E27FC236}">
                <a16:creationId xmlns:a16="http://schemas.microsoft.com/office/drawing/2014/main" id="{79F77F3F-104B-9851-423E-B465958A42E9}"/>
              </a:ext>
            </a:extLst>
          </p:cNvPr>
          <p:cNvPicPr>
            <a:picLocks noChangeAspect="1"/>
          </p:cNvPicPr>
          <p:nvPr/>
        </p:nvPicPr>
        <p:blipFill>
          <a:blip r:embed="rId3"/>
          <a:stretch>
            <a:fillRect/>
          </a:stretch>
        </p:blipFill>
        <p:spPr>
          <a:xfrm>
            <a:off x="1766761" y="1607678"/>
            <a:ext cx="8658478" cy="4701350"/>
          </a:xfrm>
          <a:prstGeom prst="rect">
            <a:avLst/>
          </a:prstGeom>
        </p:spPr>
      </p:pic>
      <p:sp>
        <p:nvSpPr>
          <p:cNvPr id="55" name="Rectangle 54">
            <a:extLst>
              <a:ext uri="{FF2B5EF4-FFF2-40B4-BE49-F238E27FC236}">
                <a16:creationId xmlns:a16="http://schemas.microsoft.com/office/drawing/2014/main" id="{3C0AF5D4-5498-F775-6BC5-352B8EDCE2F6}"/>
              </a:ext>
            </a:extLst>
          </p:cNvPr>
          <p:cNvSpPr/>
          <p:nvPr/>
        </p:nvSpPr>
        <p:spPr>
          <a:xfrm>
            <a:off x="4698247" y="1604451"/>
            <a:ext cx="2805474" cy="233772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EED1216E-5027-39E4-285B-A82975E44A4A}"/>
              </a:ext>
            </a:extLst>
          </p:cNvPr>
          <p:cNvSpPr/>
          <p:nvPr/>
        </p:nvSpPr>
        <p:spPr>
          <a:xfrm>
            <a:off x="7558336" y="1608890"/>
            <a:ext cx="2857259" cy="2322923"/>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BB736512-A8CF-C154-97DE-C439246002E8}"/>
              </a:ext>
            </a:extLst>
          </p:cNvPr>
          <p:cNvSpPr/>
          <p:nvPr/>
        </p:nvSpPr>
        <p:spPr>
          <a:xfrm>
            <a:off x="1770098" y="3988105"/>
            <a:ext cx="2894249" cy="2256341"/>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a:extLst>
              <a:ext uri="{FF2B5EF4-FFF2-40B4-BE49-F238E27FC236}">
                <a16:creationId xmlns:a16="http://schemas.microsoft.com/office/drawing/2014/main" id="{4A3D11EF-3A80-2698-57B7-7492C5011AEC}"/>
              </a:ext>
            </a:extLst>
          </p:cNvPr>
          <p:cNvSpPr/>
          <p:nvPr/>
        </p:nvSpPr>
        <p:spPr>
          <a:xfrm>
            <a:off x="4710084" y="3998462"/>
            <a:ext cx="2790677" cy="2248944"/>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65">
            <a:extLst>
              <a:ext uri="{FF2B5EF4-FFF2-40B4-BE49-F238E27FC236}">
                <a16:creationId xmlns:a16="http://schemas.microsoft.com/office/drawing/2014/main" id="{EB69F7F4-AB5D-E500-8E58-0299DC881C12}"/>
              </a:ext>
            </a:extLst>
          </p:cNvPr>
          <p:cNvSpPr/>
          <p:nvPr/>
        </p:nvSpPr>
        <p:spPr>
          <a:xfrm>
            <a:off x="7555378" y="3995504"/>
            <a:ext cx="2886852" cy="2256342"/>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93634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grpId="0" nodeType="clickEffect">
                                  <p:stCondLst>
                                    <p:cond delay="0"/>
                                  </p:stCondLst>
                                  <p:childTnLst>
                                    <p:anim calcmode="lin" valueType="num">
                                      <p:cBhvr additive="base">
                                        <p:cTn id="6" dur="500"/>
                                        <p:tgtEl>
                                          <p:spTgt spid="55"/>
                                        </p:tgtEl>
                                        <p:attrNameLst>
                                          <p:attrName>ppt_x</p:attrName>
                                        </p:attrNameLst>
                                      </p:cBhvr>
                                      <p:tavLst>
                                        <p:tav tm="0">
                                          <p:val>
                                            <p:strVal val="ppt_x"/>
                                          </p:val>
                                        </p:tav>
                                        <p:tav tm="100000">
                                          <p:val>
                                            <p:strVal val="ppt_x"/>
                                          </p:val>
                                        </p:tav>
                                      </p:tavLst>
                                    </p:anim>
                                    <p:anim calcmode="lin" valueType="num">
                                      <p:cBhvr additive="base">
                                        <p:cTn id="7" dur="500"/>
                                        <p:tgtEl>
                                          <p:spTgt spid="55"/>
                                        </p:tgtEl>
                                        <p:attrNameLst>
                                          <p:attrName>ppt_y</p:attrName>
                                        </p:attrNameLst>
                                      </p:cBhvr>
                                      <p:tavLst>
                                        <p:tav tm="0">
                                          <p:val>
                                            <p:strVal val="ppt_y"/>
                                          </p:val>
                                        </p:tav>
                                        <p:tav tm="100000">
                                          <p:val>
                                            <p:strVal val="1+ppt_h/2"/>
                                          </p:val>
                                        </p:tav>
                                      </p:tavLst>
                                    </p:anim>
                                    <p:set>
                                      <p:cBhvr>
                                        <p:cTn id="8" dur="1" fill="hold">
                                          <p:stCondLst>
                                            <p:cond delay="499"/>
                                          </p:stCondLst>
                                        </p:cTn>
                                        <p:tgtEl>
                                          <p:spTgt spid="55"/>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2" presetClass="exit" presetSubtype="4" fill="hold" grpId="0" nodeType="clickEffect">
                                  <p:stCondLst>
                                    <p:cond delay="0"/>
                                  </p:stCondLst>
                                  <p:childTnLst>
                                    <p:anim calcmode="lin" valueType="num">
                                      <p:cBhvr additive="base">
                                        <p:cTn id="12" dur="500"/>
                                        <p:tgtEl>
                                          <p:spTgt spid="58"/>
                                        </p:tgtEl>
                                        <p:attrNameLst>
                                          <p:attrName>ppt_x</p:attrName>
                                        </p:attrNameLst>
                                      </p:cBhvr>
                                      <p:tavLst>
                                        <p:tav tm="0">
                                          <p:val>
                                            <p:strVal val="ppt_x"/>
                                          </p:val>
                                        </p:tav>
                                        <p:tav tm="100000">
                                          <p:val>
                                            <p:strVal val="ppt_x"/>
                                          </p:val>
                                        </p:tav>
                                      </p:tavLst>
                                    </p:anim>
                                    <p:anim calcmode="lin" valueType="num">
                                      <p:cBhvr additive="base">
                                        <p:cTn id="13" dur="500"/>
                                        <p:tgtEl>
                                          <p:spTgt spid="58"/>
                                        </p:tgtEl>
                                        <p:attrNameLst>
                                          <p:attrName>ppt_y</p:attrName>
                                        </p:attrNameLst>
                                      </p:cBhvr>
                                      <p:tavLst>
                                        <p:tav tm="0">
                                          <p:val>
                                            <p:strVal val="ppt_y"/>
                                          </p:val>
                                        </p:tav>
                                        <p:tav tm="100000">
                                          <p:val>
                                            <p:strVal val="1+ppt_h/2"/>
                                          </p:val>
                                        </p:tav>
                                      </p:tavLst>
                                    </p:anim>
                                    <p:set>
                                      <p:cBhvr>
                                        <p:cTn id="14" dur="1" fill="hold">
                                          <p:stCondLst>
                                            <p:cond delay="499"/>
                                          </p:stCondLst>
                                        </p:cTn>
                                        <p:tgtEl>
                                          <p:spTgt spid="58"/>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2" presetClass="exit" presetSubtype="4" fill="hold" grpId="0" nodeType="clickEffect">
                                  <p:stCondLst>
                                    <p:cond delay="0"/>
                                  </p:stCondLst>
                                  <p:childTnLst>
                                    <p:anim calcmode="lin" valueType="num">
                                      <p:cBhvr additive="base">
                                        <p:cTn id="18" dur="500"/>
                                        <p:tgtEl>
                                          <p:spTgt spid="62"/>
                                        </p:tgtEl>
                                        <p:attrNameLst>
                                          <p:attrName>ppt_x</p:attrName>
                                        </p:attrNameLst>
                                      </p:cBhvr>
                                      <p:tavLst>
                                        <p:tav tm="0">
                                          <p:val>
                                            <p:strVal val="ppt_x"/>
                                          </p:val>
                                        </p:tav>
                                        <p:tav tm="100000">
                                          <p:val>
                                            <p:strVal val="ppt_x"/>
                                          </p:val>
                                        </p:tav>
                                      </p:tavLst>
                                    </p:anim>
                                    <p:anim calcmode="lin" valueType="num">
                                      <p:cBhvr additive="base">
                                        <p:cTn id="19" dur="500"/>
                                        <p:tgtEl>
                                          <p:spTgt spid="62"/>
                                        </p:tgtEl>
                                        <p:attrNameLst>
                                          <p:attrName>ppt_y</p:attrName>
                                        </p:attrNameLst>
                                      </p:cBhvr>
                                      <p:tavLst>
                                        <p:tav tm="0">
                                          <p:val>
                                            <p:strVal val="ppt_y"/>
                                          </p:val>
                                        </p:tav>
                                        <p:tav tm="100000">
                                          <p:val>
                                            <p:strVal val="1+ppt_h/2"/>
                                          </p:val>
                                        </p:tav>
                                      </p:tavLst>
                                    </p:anim>
                                    <p:set>
                                      <p:cBhvr>
                                        <p:cTn id="20" dur="1" fill="hold">
                                          <p:stCondLst>
                                            <p:cond delay="499"/>
                                          </p:stCondLst>
                                        </p:cTn>
                                        <p:tgtEl>
                                          <p:spTgt spid="62"/>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2" presetClass="exit" presetSubtype="4" fill="hold" grpId="0" nodeType="clickEffect">
                                  <p:stCondLst>
                                    <p:cond delay="0"/>
                                  </p:stCondLst>
                                  <p:childTnLst>
                                    <p:anim calcmode="lin" valueType="num">
                                      <p:cBhvr additive="base">
                                        <p:cTn id="24" dur="500"/>
                                        <p:tgtEl>
                                          <p:spTgt spid="64"/>
                                        </p:tgtEl>
                                        <p:attrNameLst>
                                          <p:attrName>ppt_x</p:attrName>
                                        </p:attrNameLst>
                                      </p:cBhvr>
                                      <p:tavLst>
                                        <p:tav tm="0">
                                          <p:val>
                                            <p:strVal val="ppt_x"/>
                                          </p:val>
                                        </p:tav>
                                        <p:tav tm="100000">
                                          <p:val>
                                            <p:strVal val="ppt_x"/>
                                          </p:val>
                                        </p:tav>
                                      </p:tavLst>
                                    </p:anim>
                                    <p:anim calcmode="lin" valueType="num">
                                      <p:cBhvr additive="base">
                                        <p:cTn id="25" dur="500"/>
                                        <p:tgtEl>
                                          <p:spTgt spid="64"/>
                                        </p:tgtEl>
                                        <p:attrNameLst>
                                          <p:attrName>ppt_y</p:attrName>
                                        </p:attrNameLst>
                                      </p:cBhvr>
                                      <p:tavLst>
                                        <p:tav tm="0">
                                          <p:val>
                                            <p:strVal val="ppt_y"/>
                                          </p:val>
                                        </p:tav>
                                        <p:tav tm="100000">
                                          <p:val>
                                            <p:strVal val="1+ppt_h/2"/>
                                          </p:val>
                                        </p:tav>
                                      </p:tavLst>
                                    </p:anim>
                                    <p:set>
                                      <p:cBhvr>
                                        <p:cTn id="26" dur="1" fill="hold">
                                          <p:stCondLst>
                                            <p:cond delay="499"/>
                                          </p:stCondLst>
                                        </p:cTn>
                                        <p:tgtEl>
                                          <p:spTgt spid="64"/>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2" presetClass="exit" presetSubtype="4" fill="hold" grpId="0" nodeType="clickEffect">
                                  <p:stCondLst>
                                    <p:cond delay="0"/>
                                  </p:stCondLst>
                                  <p:childTnLst>
                                    <p:anim calcmode="lin" valueType="num">
                                      <p:cBhvr additive="base">
                                        <p:cTn id="30" dur="500"/>
                                        <p:tgtEl>
                                          <p:spTgt spid="66"/>
                                        </p:tgtEl>
                                        <p:attrNameLst>
                                          <p:attrName>ppt_x</p:attrName>
                                        </p:attrNameLst>
                                      </p:cBhvr>
                                      <p:tavLst>
                                        <p:tav tm="0">
                                          <p:val>
                                            <p:strVal val="ppt_x"/>
                                          </p:val>
                                        </p:tav>
                                        <p:tav tm="100000">
                                          <p:val>
                                            <p:strVal val="ppt_x"/>
                                          </p:val>
                                        </p:tav>
                                      </p:tavLst>
                                    </p:anim>
                                    <p:anim calcmode="lin" valueType="num">
                                      <p:cBhvr additive="base">
                                        <p:cTn id="31" dur="500"/>
                                        <p:tgtEl>
                                          <p:spTgt spid="66"/>
                                        </p:tgtEl>
                                        <p:attrNameLst>
                                          <p:attrName>ppt_y</p:attrName>
                                        </p:attrNameLst>
                                      </p:cBhvr>
                                      <p:tavLst>
                                        <p:tav tm="0">
                                          <p:val>
                                            <p:strVal val="ppt_y"/>
                                          </p:val>
                                        </p:tav>
                                        <p:tav tm="100000">
                                          <p:val>
                                            <p:strVal val="1+ppt_h/2"/>
                                          </p:val>
                                        </p:tav>
                                      </p:tavLst>
                                    </p:anim>
                                    <p:set>
                                      <p:cBhvr>
                                        <p:cTn id="32" dur="1" fill="hold">
                                          <p:stCondLst>
                                            <p:cond delay="499"/>
                                          </p:stCondLst>
                                        </p:cTn>
                                        <p:tgtEl>
                                          <p:spTgt spid="6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animBg="1"/>
      <p:bldP spid="58" grpId="0" animBg="1"/>
      <p:bldP spid="62" grpId="0" animBg="1"/>
      <p:bldP spid="64" grpId="0" animBg="1"/>
      <p:bldP spid="6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a:extLst>
            <a:ext uri="{FF2B5EF4-FFF2-40B4-BE49-F238E27FC236}">
              <a16:creationId xmlns:a16="http://schemas.microsoft.com/office/drawing/2014/main" id="{07A91D43-7642-F57E-242E-223D3D4D706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BBBB01F-13BF-7AE3-BBC7-AC62547834C1}"/>
              </a:ext>
            </a:extLst>
          </p:cNvPr>
          <p:cNvSpPr/>
          <p:nvPr/>
        </p:nvSpPr>
        <p:spPr>
          <a:xfrm>
            <a:off x="658368" y="438912"/>
            <a:ext cx="512064" cy="0"/>
          </a:xfrm>
          <a:prstGeom prst="line">
            <a:avLst/>
          </a:prstGeom>
          <a:noFill/>
          <a:ln w="50800">
            <a:solidFill>
              <a:srgbClr val="C40C3C"/>
            </a:solidFill>
            <a:prstDash val="solid"/>
          </a:ln>
        </p:spPr>
        <p:txBody>
          <a:bodyPr/>
          <a:lstStyle/>
          <a:p>
            <a:endParaRPr lang="en-US"/>
          </a:p>
        </p:txBody>
      </p:sp>
      <p:sp>
        <p:nvSpPr>
          <p:cNvPr id="3" name="Text 1">
            <a:extLst>
              <a:ext uri="{FF2B5EF4-FFF2-40B4-BE49-F238E27FC236}">
                <a16:creationId xmlns:a16="http://schemas.microsoft.com/office/drawing/2014/main" id="{F23D2CA2-5D10-ACD4-38C8-7AAADACACBD5}"/>
              </a:ext>
            </a:extLst>
          </p:cNvPr>
          <p:cNvSpPr/>
          <p:nvPr/>
        </p:nvSpPr>
        <p:spPr>
          <a:xfrm>
            <a:off x="658368" y="603504"/>
            <a:ext cx="10607040" cy="457200"/>
          </a:xfrm>
          <a:prstGeom prst="rect">
            <a:avLst/>
          </a:prstGeom>
          <a:noFill/>
          <a:ln/>
        </p:spPr>
        <p:txBody>
          <a:bodyPr wrap="square" lIns="0" tIns="0" rIns="0" bIns="0" rtlCol="0" anchor="ctr"/>
          <a:lstStyle/>
          <a:p>
            <a:r>
              <a:rPr lang="en-US" sz="3100" b="1" dirty="0">
                <a:solidFill>
                  <a:srgbClr val="071E41"/>
                </a:solidFill>
                <a:latin typeface="Aptos Display"/>
              </a:rPr>
              <a:t>The Original Proposed Solution</a:t>
            </a:r>
            <a:endParaRPr lang="en-US" dirty="0"/>
          </a:p>
        </p:txBody>
      </p:sp>
      <p:pic>
        <p:nvPicPr>
          <p:cNvPr id="5" name="Picture 4">
            <a:extLst>
              <a:ext uri="{FF2B5EF4-FFF2-40B4-BE49-F238E27FC236}">
                <a16:creationId xmlns:a16="http://schemas.microsoft.com/office/drawing/2014/main" id="{F8C67EA2-9B31-94D3-795A-A0C59BB6A75D}"/>
              </a:ext>
            </a:extLst>
          </p:cNvPr>
          <p:cNvPicPr>
            <a:picLocks noChangeAspect="1"/>
          </p:cNvPicPr>
          <p:nvPr/>
        </p:nvPicPr>
        <p:blipFill>
          <a:blip r:embed="rId3"/>
          <a:stretch>
            <a:fillRect/>
          </a:stretch>
        </p:blipFill>
        <p:spPr>
          <a:xfrm>
            <a:off x="8215312" y="912813"/>
            <a:ext cx="3175000" cy="5659437"/>
          </a:xfrm>
          <a:prstGeom prst="rect">
            <a:avLst/>
          </a:prstGeom>
        </p:spPr>
      </p:pic>
      <p:sp>
        <p:nvSpPr>
          <p:cNvPr id="11" name="Text 2">
            <a:extLst>
              <a:ext uri="{FF2B5EF4-FFF2-40B4-BE49-F238E27FC236}">
                <a16:creationId xmlns:a16="http://schemas.microsoft.com/office/drawing/2014/main" id="{D904E3D7-490D-D661-05F0-71B9371CEB69}"/>
              </a:ext>
            </a:extLst>
          </p:cNvPr>
          <p:cNvSpPr/>
          <p:nvPr/>
        </p:nvSpPr>
        <p:spPr>
          <a:xfrm>
            <a:off x="676656" y="1143000"/>
            <a:ext cx="10469880" cy="329184"/>
          </a:xfrm>
          <a:prstGeom prst="rect">
            <a:avLst/>
          </a:prstGeom>
          <a:noFill/>
          <a:ln/>
        </p:spPr>
        <p:txBody>
          <a:bodyPr wrap="square" lIns="0" tIns="0" rIns="0" bIns="0" rtlCol="0" anchor="ctr"/>
          <a:lstStyle/>
          <a:p>
            <a:r>
              <a:rPr lang="en-US" sz="1600" dirty="0">
                <a:solidFill>
                  <a:srgbClr val="5B6F8F"/>
                </a:solidFill>
                <a:latin typeface="Aptos"/>
              </a:rPr>
              <a:t>And Why It Didn't Work...</a:t>
            </a:r>
            <a:endParaRPr lang="en-US" dirty="0"/>
          </a:p>
        </p:txBody>
      </p:sp>
      <p:pic>
        <p:nvPicPr>
          <p:cNvPr id="10" name="Picture 9">
            <a:extLst>
              <a:ext uri="{FF2B5EF4-FFF2-40B4-BE49-F238E27FC236}">
                <a16:creationId xmlns:a16="http://schemas.microsoft.com/office/drawing/2014/main" id="{EFC1CDE1-639E-BD31-7831-54789285CEB6}"/>
              </a:ext>
            </a:extLst>
          </p:cNvPr>
          <p:cNvPicPr>
            <a:picLocks noChangeAspect="1"/>
          </p:cNvPicPr>
          <p:nvPr/>
        </p:nvPicPr>
        <p:blipFill>
          <a:blip r:embed="rId4"/>
          <a:stretch>
            <a:fillRect/>
          </a:stretch>
        </p:blipFill>
        <p:spPr>
          <a:xfrm>
            <a:off x="432880" y="1599238"/>
            <a:ext cx="7429500" cy="2452315"/>
          </a:xfrm>
          <a:prstGeom prst="rect">
            <a:avLst/>
          </a:prstGeom>
        </p:spPr>
      </p:pic>
      <p:pic>
        <p:nvPicPr>
          <p:cNvPr id="13" name="Picture 12">
            <a:extLst>
              <a:ext uri="{FF2B5EF4-FFF2-40B4-BE49-F238E27FC236}">
                <a16:creationId xmlns:a16="http://schemas.microsoft.com/office/drawing/2014/main" id="{3E1CF01A-8286-6CB4-D065-C146087DD32E}"/>
              </a:ext>
            </a:extLst>
          </p:cNvPr>
          <p:cNvPicPr>
            <a:picLocks noChangeAspect="1"/>
          </p:cNvPicPr>
          <p:nvPr/>
        </p:nvPicPr>
        <p:blipFill>
          <a:blip r:embed="rId5"/>
          <a:stretch>
            <a:fillRect/>
          </a:stretch>
        </p:blipFill>
        <p:spPr>
          <a:xfrm>
            <a:off x="432880" y="4178607"/>
            <a:ext cx="7429500" cy="2474082"/>
          </a:xfrm>
          <a:prstGeom prst="rect">
            <a:avLst/>
          </a:prstGeom>
        </p:spPr>
      </p:pic>
    </p:spTree>
    <p:extLst>
      <p:ext uri="{BB962C8B-B14F-4D97-AF65-F5344CB8AC3E}">
        <p14:creationId xmlns:p14="http://schemas.microsoft.com/office/powerpoint/2010/main" val="10352732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a:extLst>
            <a:ext uri="{FF2B5EF4-FFF2-40B4-BE49-F238E27FC236}">
              <a16:creationId xmlns:a16="http://schemas.microsoft.com/office/drawing/2014/main" id="{3FF59282-461F-B04A-D73E-E79A6290479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E024CEE-482E-D6F7-1C50-C3EA62383243}"/>
              </a:ext>
            </a:extLst>
          </p:cNvPr>
          <p:cNvSpPr/>
          <p:nvPr/>
        </p:nvSpPr>
        <p:spPr>
          <a:xfrm>
            <a:off x="658368" y="438912"/>
            <a:ext cx="512064" cy="0"/>
          </a:xfrm>
          <a:prstGeom prst="line">
            <a:avLst/>
          </a:prstGeom>
          <a:noFill/>
          <a:ln w="50800">
            <a:solidFill>
              <a:srgbClr val="C40C3C"/>
            </a:solidFill>
            <a:prstDash val="solid"/>
          </a:ln>
        </p:spPr>
        <p:txBody>
          <a:bodyPr/>
          <a:lstStyle/>
          <a:p>
            <a:endParaRPr lang="en-US"/>
          </a:p>
        </p:txBody>
      </p:sp>
      <p:sp>
        <p:nvSpPr>
          <p:cNvPr id="3" name="Text 1">
            <a:extLst>
              <a:ext uri="{FF2B5EF4-FFF2-40B4-BE49-F238E27FC236}">
                <a16:creationId xmlns:a16="http://schemas.microsoft.com/office/drawing/2014/main" id="{38845110-1291-D971-90C8-FCF4BE2C05A2}"/>
              </a:ext>
            </a:extLst>
          </p:cNvPr>
          <p:cNvSpPr/>
          <p:nvPr/>
        </p:nvSpPr>
        <p:spPr>
          <a:xfrm>
            <a:off x="658368" y="603504"/>
            <a:ext cx="10607040" cy="457200"/>
          </a:xfrm>
          <a:prstGeom prst="rect">
            <a:avLst/>
          </a:prstGeom>
          <a:noFill/>
          <a:ln/>
        </p:spPr>
        <p:txBody>
          <a:bodyPr wrap="square" lIns="0" tIns="0" rIns="0" bIns="0" rtlCol="0" anchor="ctr"/>
          <a:lstStyle/>
          <a:p>
            <a:r>
              <a:rPr lang="en-US" sz="3100" b="1" dirty="0">
                <a:solidFill>
                  <a:srgbClr val="071E41"/>
                </a:solidFill>
                <a:latin typeface="Aptos Display"/>
              </a:rPr>
              <a:t>Two Product Design Lessons</a:t>
            </a:r>
          </a:p>
        </p:txBody>
      </p:sp>
      <p:sp>
        <p:nvSpPr>
          <p:cNvPr id="8" name="Text 3">
            <a:extLst>
              <a:ext uri="{FF2B5EF4-FFF2-40B4-BE49-F238E27FC236}">
                <a16:creationId xmlns:a16="http://schemas.microsoft.com/office/drawing/2014/main" id="{48447460-61EB-6B32-BA40-9EF7124DF991}"/>
              </a:ext>
            </a:extLst>
          </p:cNvPr>
          <p:cNvSpPr/>
          <p:nvPr/>
        </p:nvSpPr>
        <p:spPr>
          <a:xfrm>
            <a:off x="659286" y="1059032"/>
            <a:ext cx="10314107" cy="1412815"/>
          </a:xfrm>
          <a:prstGeom prst="rect">
            <a:avLst/>
          </a:prstGeom>
          <a:noFill/>
          <a:ln/>
        </p:spPr>
        <p:txBody>
          <a:bodyPr wrap="square" lIns="0" tIns="0" rIns="0" bIns="0" rtlCol="0" anchor="ctr"/>
          <a:lstStyle/>
          <a:p>
            <a:pPr marL="514350" indent="-514350">
              <a:buAutoNum type="arabicPeriod"/>
            </a:pPr>
            <a:r>
              <a:rPr lang="en-US" sz="2800" b="1" dirty="0">
                <a:solidFill>
                  <a:srgbClr val="071E41"/>
                </a:solidFill>
                <a:latin typeface="Aptos Display"/>
              </a:rPr>
              <a:t>Meet People Where They Are (We Did Ok Here)</a:t>
            </a:r>
          </a:p>
          <a:p>
            <a:endParaRPr lang="en-US" sz="3600" b="1" dirty="0">
              <a:solidFill>
                <a:srgbClr val="071E41"/>
              </a:solidFill>
              <a:latin typeface="Aptos Display"/>
            </a:endParaRPr>
          </a:p>
        </p:txBody>
      </p:sp>
      <p:sp>
        <p:nvSpPr>
          <p:cNvPr id="13" name="Text 3">
            <a:extLst>
              <a:ext uri="{FF2B5EF4-FFF2-40B4-BE49-F238E27FC236}">
                <a16:creationId xmlns:a16="http://schemas.microsoft.com/office/drawing/2014/main" id="{AEC7E5E1-3443-3ACC-A734-1AB3A0D397D1}"/>
              </a:ext>
            </a:extLst>
          </p:cNvPr>
          <p:cNvSpPr/>
          <p:nvPr/>
        </p:nvSpPr>
        <p:spPr>
          <a:xfrm>
            <a:off x="656589" y="3645785"/>
            <a:ext cx="11345841" cy="1412815"/>
          </a:xfrm>
          <a:prstGeom prst="rect">
            <a:avLst/>
          </a:prstGeom>
          <a:noFill/>
          <a:ln/>
        </p:spPr>
        <p:txBody>
          <a:bodyPr wrap="square" lIns="0" tIns="0" rIns="0" bIns="0" rtlCol="0" anchor="ctr"/>
          <a:lstStyle/>
          <a:p>
            <a:r>
              <a:rPr lang="en-US" sz="2800" b="1" dirty="0">
                <a:solidFill>
                  <a:srgbClr val="071E41"/>
                </a:solidFill>
                <a:latin typeface="Aptos Display"/>
              </a:rPr>
              <a:t>2.  Friction is Not Always An Obstacle (Not So Much Here)</a:t>
            </a:r>
          </a:p>
          <a:p>
            <a:endParaRPr lang="en-US" sz="3600" b="1" dirty="0">
              <a:solidFill>
                <a:srgbClr val="071E41"/>
              </a:solidFill>
              <a:latin typeface="Aptos Display"/>
            </a:endParaRPr>
          </a:p>
        </p:txBody>
      </p:sp>
      <p:pic>
        <p:nvPicPr>
          <p:cNvPr id="16" name="Picture 15" descr="A person wearing a hard hat and a phone&#10;&#10;AI-generated content may be incorrect.">
            <a:extLst>
              <a:ext uri="{FF2B5EF4-FFF2-40B4-BE49-F238E27FC236}">
                <a16:creationId xmlns:a16="http://schemas.microsoft.com/office/drawing/2014/main" id="{7558F575-6771-D7C3-D721-7E642930D30C}"/>
              </a:ext>
            </a:extLst>
          </p:cNvPr>
          <p:cNvPicPr>
            <a:picLocks noChangeAspect="1"/>
          </p:cNvPicPr>
          <p:nvPr/>
        </p:nvPicPr>
        <p:blipFill>
          <a:blip r:embed="rId3"/>
          <a:srcRect t="16343" r="-91" b="10989"/>
          <a:stretch>
            <a:fillRect/>
          </a:stretch>
        </p:blipFill>
        <p:spPr>
          <a:xfrm>
            <a:off x="2097819" y="1936973"/>
            <a:ext cx="7436253" cy="1784794"/>
          </a:xfrm>
          <a:prstGeom prst="rect">
            <a:avLst/>
          </a:prstGeom>
        </p:spPr>
      </p:pic>
      <p:pic>
        <p:nvPicPr>
          <p:cNvPr id="18" name="Picture 17" descr="A cartoon of a person in a construction site&#10;&#10;AI-generated content may be incorrect.">
            <a:extLst>
              <a:ext uri="{FF2B5EF4-FFF2-40B4-BE49-F238E27FC236}">
                <a16:creationId xmlns:a16="http://schemas.microsoft.com/office/drawing/2014/main" id="{BEFEB03F-60E8-75E0-FAAA-CBC2AAFF12BC}"/>
              </a:ext>
            </a:extLst>
          </p:cNvPr>
          <p:cNvPicPr>
            <a:picLocks noChangeAspect="1"/>
          </p:cNvPicPr>
          <p:nvPr/>
        </p:nvPicPr>
        <p:blipFill>
          <a:blip r:embed="rId4"/>
          <a:srcRect t="14553" r="-91" b="10103"/>
          <a:stretch>
            <a:fillRect/>
          </a:stretch>
        </p:blipFill>
        <p:spPr>
          <a:xfrm>
            <a:off x="2097819" y="4348527"/>
            <a:ext cx="7436253" cy="1868461"/>
          </a:xfrm>
          <a:prstGeom prst="rect">
            <a:avLst/>
          </a:prstGeom>
        </p:spPr>
      </p:pic>
    </p:spTree>
    <p:extLst>
      <p:ext uri="{BB962C8B-B14F-4D97-AF65-F5344CB8AC3E}">
        <p14:creationId xmlns:p14="http://schemas.microsoft.com/office/powerpoint/2010/main" val="3771669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4">
    <p:bg>
      <p:bgPr>
        <a:solidFill>
          <a:srgbClr val="001C40"/>
        </a:solidFill>
        <a:effectLst/>
      </p:bgPr>
    </p:bg>
    <p:spTree>
      <p:nvGrpSpPr>
        <p:cNvPr id="1" name=""/>
        <p:cNvGrpSpPr/>
        <p:nvPr/>
      </p:nvGrpSpPr>
      <p:grpSpPr>
        <a:xfrm>
          <a:off x="0" y="0"/>
          <a:ext cx="0" cy="0"/>
          <a:chOff x="0" y="0"/>
          <a:chExt cx="0" cy="0"/>
        </a:xfrm>
      </p:grpSpPr>
      <p:sp>
        <p:nvSpPr>
          <p:cNvPr id="2" name="Shape 0"/>
          <p:cNvSpPr/>
          <p:nvPr/>
        </p:nvSpPr>
        <p:spPr>
          <a:xfrm>
            <a:off x="658368" y="438912"/>
            <a:ext cx="512064" cy="0"/>
          </a:xfrm>
          <a:prstGeom prst="line">
            <a:avLst/>
          </a:prstGeom>
          <a:noFill/>
          <a:ln w="50800">
            <a:solidFill>
              <a:srgbClr val="C40C3C"/>
            </a:solidFill>
            <a:prstDash val="solid"/>
          </a:ln>
        </p:spPr>
        <p:txBody>
          <a:bodyPr/>
          <a:lstStyle/>
          <a:p>
            <a:endParaRPr lang="en-US"/>
          </a:p>
        </p:txBody>
      </p:sp>
      <p:sp>
        <p:nvSpPr>
          <p:cNvPr id="3" name="Text 1"/>
          <p:cNvSpPr/>
          <p:nvPr/>
        </p:nvSpPr>
        <p:spPr>
          <a:xfrm>
            <a:off x="658368" y="603504"/>
            <a:ext cx="8915400" cy="457200"/>
          </a:xfrm>
          <a:prstGeom prst="rect">
            <a:avLst/>
          </a:prstGeom>
          <a:noFill/>
          <a:ln/>
        </p:spPr>
        <p:txBody>
          <a:bodyPr wrap="square" lIns="0" tIns="0" rIns="0" bIns="0" rtlCol="0" anchor="ctr"/>
          <a:lstStyle/>
          <a:p>
            <a:pPr marL="0" indent="0">
              <a:buNone/>
            </a:pPr>
            <a:r>
              <a:rPr lang="en-US" sz="3100" b="1" dirty="0">
                <a:solidFill>
                  <a:srgbClr val="FFFFFF"/>
                </a:solidFill>
                <a:latin typeface="Aptos Display" pitchFamily="34" charset="0"/>
                <a:ea typeface="Aptos Display" pitchFamily="34" charset="-122"/>
                <a:cs typeface="Aptos Display" pitchFamily="34" charset="-120"/>
              </a:rPr>
              <a:t>What Vera Notes changes</a:t>
            </a:r>
            <a:endParaRPr lang="en-US" sz="3100" dirty="0"/>
          </a:p>
        </p:txBody>
      </p:sp>
      <p:sp>
        <p:nvSpPr>
          <p:cNvPr id="5" name="Text 3"/>
          <p:cNvSpPr/>
          <p:nvPr/>
        </p:nvSpPr>
        <p:spPr>
          <a:xfrm>
            <a:off x="10241280" y="603504"/>
            <a:ext cx="1188720" cy="329184"/>
          </a:xfrm>
          <a:prstGeom prst="roundRect">
            <a:avLst>
              <a:gd name="adj" fmla="val 22222"/>
            </a:avLst>
          </a:prstGeom>
          <a:solidFill>
            <a:srgbClr val="C40C3C"/>
          </a:solidFill>
          <a:ln>
            <a:solidFill>
              <a:srgbClr val="C40C3C">
                <a:alpha val="0"/>
              </a:srgbClr>
            </a:solidFill>
          </a:ln>
        </p:spPr>
        <p:txBody>
          <a:bodyPr wrap="square" lIns="0" tIns="0" rIns="0" bIns="0" rtlCol="0" anchor="ctr"/>
          <a:lstStyle/>
          <a:p>
            <a:pPr marL="0" indent="0" algn="ctr">
              <a:buNone/>
            </a:pPr>
            <a:r>
              <a:rPr lang="en-US" sz="1050" b="1" kern="0" spc="100" dirty="0">
                <a:solidFill>
                  <a:srgbClr val="FFFFFF"/>
                </a:solidFill>
                <a:latin typeface="Aptos" pitchFamily="34" charset="0"/>
                <a:ea typeface="Aptos" pitchFamily="34" charset="-122"/>
                <a:cs typeface="Aptos" pitchFamily="34" charset="-120"/>
              </a:rPr>
              <a:t>DEMO</a:t>
            </a:r>
            <a:endParaRPr lang="en-US" sz="1050" dirty="0"/>
          </a:p>
        </p:txBody>
      </p:sp>
      <p:sp>
        <p:nvSpPr>
          <p:cNvPr id="6" name="Shape 4"/>
          <p:cNvSpPr/>
          <p:nvPr/>
        </p:nvSpPr>
        <p:spPr>
          <a:xfrm>
            <a:off x="826639" y="1216151"/>
            <a:ext cx="2646190" cy="5215039"/>
          </a:xfrm>
          <a:prstGeom prst="roundRect">
            <a:avLst>
              <a:gd name="adj" fmla="val 5263"/>
            </a:avLst>
          </a:prstGeom>
          <a:solidFill>
            <a:srgbClr val="FFFFFF"/>
          </a:solidFill>
          <a:ln w="12700">
            <a:solidFill>
              <a:srgbClr val="C8D3DF"/>
            </a:solidFill>
            <a:prstDash val="solid"/>
          </a:ln>
          <a:effectLst>
            <a:outerShdw blurRad="27940" dist="15240" dir="2700000" algn="bl" rotWithShape="0">
              <a:srgbClr val="000000">
                <a:alpha val="16000"/>
              </a:srgbClr>
            </a:outerShdw>
          </a:effectLst>
        </p:spPr>
        <p:txBody>
          <a:bodyPr/>
          <a:lstStyle/>
          <a:p>
            <a:endParaRPr lang="en-US"/>
          </a:p>
        </p:txBody>
      </p:sp>
      <p:sp>
        <p:nvSpPr>
          <p:cNvPr id="8" name="Text 5"/>
          <p:cNvSpPr/>
          <p:nvPr/>
        </p:nvSpPr>
        <p:spPr>
          <a:xfrm>
            <a:off x="4279392" y="1700784"/>
            <a:ext cx="402336" cy="402336"/>
          </a:xfrm>
          <a:prstGeom prst="ellipse">
            <a:avLst/>
          </a:prstGeom>
          <a:solidFill>
            <a:srgbClr val="C40C3C"/>
          </a:solidFill>
          <a:ln>
            <a:solidFill>
              <a:srgbClr val="C40C3C">
                <a:alpha val="0"/>
              </a:srgbClr>
            </a:solid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1</a:t>
            </a:r>
            <a:endParaRPr lang="en-US" sz="1200" dirty="0"/>
          </a:p>
        </p:txBody>
      </p:sp>
      <p:sp>
        <p:nvSpPr>
          <p:cNvPr id="9" name="Shape 6"/>
          <p:cNvSpPr/>
          <p:nvPr/>
        </p:nvSpPr>
        <p:spPr>
          <a:xfrm>
            <a:off x="4480560" y="2103120"/>
            <a:ext cx="0" cy="502920"/>
          </a:xfrm>
          <a:prstGeom prst="line">
            <a:avLst/>
          </a:prstGeom>
          <a:noFill/>
          <a:ln w="19050">
            <a:solidFill>
              <a:srgbClr val="526F8E"/>
            </a:solidFill>
            <a:prstDash val="solid"/>
          </a:ln>
        </p:spPr>
        <p:txBody>
          <a:bodyPr/>
          <a:lstStyle/>
          <a:p>
            <a:endParaRPr lang="en-US"/>
          </a:p>
        </p:txBody>
      </p:sp>
      <p:sp>
        <p:nvSpPr>
          <p:cNvPr id="10" name="Text 7"/>
          <p:cNvSpPr/>
          <p:nvPr/>
        </p:nvSpPr>
        <p:spPr>
          <a:xfrm>
            <a:off x="4937760" y="1691640"/>
            <a:ext cx="5349240" cy="256032"/>
          </a:xfrm>
          <a:prstGeom prst="rect">
            <a:avLst/>
          </a:prstGeom>
          <a:noFill/>
          <a:ln/>
        </p:spPr>
        <p:txBody>
          <a:bodyPr wrap="square" lIns="0" tIns="0" rIns="0" bIns="0" rtlCol="0" anchor="ctr"/>
          <a:lstStyle/>
          <a:p>
            <a:pPr marL="0" indent="0">
              <a:buNone/>
            </a:pPr>
            <a:r>
              <a:rPr lang="en-US" sz="2000" b="1" dirty="0">
                <a:solidFill>
                  <a:srgbClr val="FFFFFF"/>
                </a:solidFill>
                <a:latin typeface="Aptos Display" pitchFamily="34" charset="0"/>
                <a:ea typeface="Aptos Display" pitchFamily="34" charset="-122"/>
                <a:cs typeface="Aptos Display" pitchFamily="34" charset="-120"/>
              </a:rPr>
              <a:t>Speak naturally in the field</a:t>
            </a:r>
            <a:endParaRPr lang="en-US" sz="2000" dirty="0"/>
          </a:p>
        </p:txBody>
      </p:sp>
      <p:sp>
        <p:nvSpPr>
          <p:cNvPr id="11" name="Text 8"/>
          <p:cNvSpPr/>
          <p:nvPr/>
        </p:nvSpPr>
        <p:spPr>
          <a:xfrm>
            <a:off x="4937760" y="1984248"/>
            <a:ext cx="5394960" cy="429768"/>
          </a:xfrm>
          <a:prstGeom prst="rect">
            <a:avLst/>
          </a:prstGeom>
          <a:noFill/>
          <a:ln/>
        </p:spPr>
        <p:txBody>
          <a:bodyPr wrap="square" lIns="0" tIns="0" rIns="0" bIns="0" rtlCol="0" anchor="ctr"/>
          <a:lstStyle/>
          <a:p>
            <a:pPr marL="0" indent="0">
              <a:buNone/>
            </a:pPr>
            <a:r>
              <a:rPr lang="en-US" sz="1350" dirty="0">
                <a:solidFill>
                  <a:srgbClr val="C7D3E0"/>
                </a:solidFill>
                <a:latin typeface="Aptos" pitchFamily="34" charset="0"/>
                <a:ea typeface="Aptos" pitchFamily="34" charset="-122"/>
                <a:cs typeface="Aptos" pitchFamily="34" charset="-120"/>
              </a:rPr>
              <a:t>Record the daily log by voice on a mobile device.</a:t>
            </a:r>
            <a:endParaRPr lang="en-US" sz="1350" dirty="0"/>
          </a:p>
        </p:txBody>
      </p:sp>
      <p:sp>
        <p:nvSpPr>
          <p:cNvPr id="12" name="Text 9"/>
          <p:cNvSpPr/>
          <p:nvPr/>
        </p:nvSpPr>
        <p:spPr>
          <a:xfrm>
            <a:off x="4279392" y="2761488"/>
            <a:ext cx="402336" cy="402336"/>
          </a:xfrm>
          <a:prstGeom prst="ellipse">
            <a:avLst/>
          </a:prstGeom>
          <a:solidFill>
            <a:srgbClr val="DC7890"/>
          </a:solidFill>
          <a:ln>
            <a:solidFill>
              <a:srgbClr val="DC7890">
                <a:alpha val="0"/>
              </a:srgbClr>
            </a:solid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2</a:t>
            </a:r>
            <a:endParaRPr lang="en-US" sz="1200" dirty="0"/>
          </a:p>
        </p:txBody>
      </p:sp>
      <p:sp>
        <p:nvSpPr>
          <p:cNvPr id="13" name="Shape 10"/>
          <p:cNvSpPr/>
          <p:nvPr/>
        </p:nvSpPr>
        <p:spPr>
          <a:xfrm>
            <a:off x="4480560" y="3163824"/>
            <a:ext cx="0" cy="502920"/>
          </a:xfrm>
          <a:prstGeom prst="line">
            <a:avLst/>
          </a:prstGeom>
          <a:noFill/>
          <a:ln w="19050">
            <a:solidFill>
              <a:srgbClr val="526F8E"/>
            </a:solidFill>
            <a:prstDash val="solid"/>
          </a:ln>
        </p:spPr>
        <p:txBody>
          <a:bodyPr/>
          <a:lstStyle/>
          <a:p>
            <a:endParaRPr lang="en-US"/>
          </a:p>
        </p:txBody>
      </p:sp>
      <p:sp>
        <p:nvSpPr>
          <p:cNvPr id="14" name="Text 11"/>
          <p:cNvSpPr/>
          <p:nvPr/>
        </p:nvSpPr>
        <p:spPr>
          <a:xfrm>
            <a:off x="4937760" y="2752344"/>
            <a:ext cx="5349240" cy="256032"/>
          </a:xfrm>
          <a:prstGeom prst="rect">
            <a:avLst/>
          </a:prstGeom>
          <a:noFill/>
          <a:ln/>
        </p:spPr>
        <p:txBody>
          <a:bodyPr wrap="square" lIns="0" tIns="0" rIns="0" bIns="0" rtlCol="0" anchor="ctr"/>
          <a:lstStyle/>
          <a:p>
            <a:pPr marL="0" indent="0">
              <a:buNone/>
            </a:pPr>
            <a:r>
              <a:rPr lang="en-US" sz="2000" b="1" dirty="0">
                <a:solidFill>
                  <a:srgbClr val="FFFFFF"/>
                </a:solidFill>
                <a:latin typeface="Aptos Display" pitchFamily="34" charset="0"/>
                <a:ea typeface="Aptos Display" pitchFamily="34" charset="-122"/>
                <a:cs typeface="Aptos Display" pitchFamily="34" charset="-120"/>
              </a:rPr>
              <a:t>Review and edit the transcript</a:t>
            </a:r>
            <a:endParaRPr lang="en-US" sz="2000" dirty="0"/>
          </a:p>
        </p:txBody>
      </p:sp>
      <p:sp>
        <p:nvSpPr>
          <p:cNvPr id="15" name="Text 12"/>
          <p:cNvSpPr/>
          <p:nvPr/>
        </p:nvSpPr>
        <p:spPr>
          <a:xfrm>
            <a:off x="4937760" y="3044952"/>
            <a:ext cx="5394960" cy="429768"/>
          </a:xfrm>
          <a:prstGeom prst="rect">
            <a:avLst/>
          </a:prstGeom>
          <a:noFill/>
          <a:ln/>
        </p:spPr>
        <p:txBody>
          <a:bodyPr wrap="square" lIns="0" tIns="0" rIns="0" bIns="0" rtlCol="0" anchor="ctr"/>
          <a:lstStyle/>
          <a:p>
            <a:pPr marL="0" indent="0">
              <a:buNone/>
            </a:pPr>
            <a:r>
              <a:rPr lang="en-US" sz="1350" dirty="0">
                <a:solidFill>
                  <a:srgbClr val="C7D3E0"/>
                </a:solidFill>
                <a:latin typeface="Aptos" pitchFamily="34" charset="0"/>
                <a:ea typeface="Aptos" pitchFamily="34" charset="-122"/>
                <a:cs typeface="Aptos" pitchFamily="34" charset="-120"/>
              </a:rPr>
              <a:t>Keep the user in control before anything becomes system data.</a:t>
            </a:r>
            <a:endParaRPr lang="en-US" sz="1350" dirty="0"/>
          </a:p>
        </p:txBody>
      </p:sp>
      <p:sp>
        <p:nvSpPr>
          <p:cNvPr id="16" name="Text 13"/>
          <p:cNvSpPr/>
          <p:nvPr/>
        </p:nvSpPr>
        <p:spPr>
          <a:xfrm>
            <a:off x="4279392" y="3822192"/>
            <a:ext cx="402336" cy="402336"/>
          </a:xfrm>
          <a:prstGeom prst="ellipse">
            <a:avLst/>
          </a:prstGeom>
          <a:solidFill>
            <a:srgbClr val="C40C3C"/>
          </a:solidFill>
          <a:ln>
            <a:solidFill>
              <a:srgbClr val="C40C3C">
                <a:alpha val="0"/>
              </a:srgbClr>
            </a:solid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3</a:t>
            </a:r>
            <a:endParaRPr lang="en-US" sz="1200" dirty="0"/>
          </a:p>
        </p:txBody>
      </p:sp>
      <p:sp>
        <p:nvSpPr>
          <p:cNvPr id="17" name="Shape 14"/>
          <p:cNvSpPr/>
          <p:nvPr/>
        </p:nvSpPr>
        <p:spPr>
          <a:xfrm>
            <a:off x="4480560" y="4224528"/>
            <a:ext cx="0" cy="502920"/>
          </a:xfrm>
          <a:prstGeom prst="line">
            <a:avLst/>
          </a:prstGeom>
          <a:noFill/>
          <a:ln w="19050">
            <a:solidFill>
              <a:srgbClr val="526F8E"/>
            </a:solidFill>
            <a:prstDash val="solid"/>
          </a:ln>
        </p:spPr>
        <p:txBody>
          <a:bodyPr/>
          <a:lstStyle/>
          <a:p>
            <a:endParaRPr lang="en-US"/>
          </a:p>
        </p:txBody>
      </p:sp>
      <p:sp>
        <p:nvSpPr>
          <p:cNvPr id="18" name="Text 15"/>
          <p:cNvSpPr/>
          <p:nvPr/>
        </p:nvSpPr>
        <p:spPr>
          <a:xfrm>
            <a:off x="4937760" y="3813048"/>
            <a:ext cx="5349240" cy="256032"/>
          </a:xfrm>
          <a:prstGeom prst="rect">
            <a:avLst/>
          </a:prstGeom>
          <a:noFill/>
          <a:ln/>
        </p:spPr>
        <p:txBody>
          <a:bodyPr wrap="square" lIns="0" tIns="0" rIns="0" bIns="0" rtlCol="0" anchor="ctr"/>
          <a:lstStyle/>
          <a:p>
            <a:pPr marL="0" indent="0">
              <a:buNone/>
            </a:pPr>
            <a:r>
              <a:rPr lang="en-US" sz="2000" b="1" dirty="0">
                <a:solidFill>
                  <a:srgbClr val="FFFFFF"/>
                </a:solidFill>
                <a:latin typeface="Aptos Display" pitchFamily="34" charset="0"/>
                <a:ea typeface="Aptos Display" pitchFamily="34" charset="-122"/>
                <a:cs typeface="Aptos Display" pitchFamily="34" charset="-120"/>
              </a:rPr>
              <a:t>Save and push the note</a:t>
            </a:r>
            <a:endParaRPr lang="en-US" sz="2000" dirty="0"/>
          </a:p>
        </p:txBody>
      </p:sp>
      <p:sp>
        <p:nvSpPr>
          <p:cNvPr id="19" name="Text 16"/>
          <p:cNvSpPr/>
          <p:nvPr/>
        </p:nvSpPr>
        <p:spPr>
          <a:xfrm>
            <a:off x="4937760" y="4105656"/>
            <a:ext cx="5394960" cy="429768"/>
          </a:xfrm>
          <a:prstGeom prst="rect">
            <a:avLst/>
          </a:prstGeom>
          <a:noFill/>
          <a:ln/>
        </p:spPr>
        <p:txBody>
          <a:bodyPr wrap="square" lIns="0" tIns="0" rIns="0" bIns="0" rtlCol="0" anchor="ctr"/>
          <a:lstStyle/>
          <a:p>
            <a:pPr marL="0" indent="0">
              <a:buNone/>
            </a:pPr>
            <a:r>
              <a:rPr lang="en-US" sz="1350" dirty="0">
                <a:solidFill>
                  <a:srgbClr val="C7D3E0"/>
                </a:solidFill>
                <a:latin typeface="Aptos" pitchFamily="34" charset="0"/>
                <a:ea typeface="Aptos" pitchFamily="34" charset="-122"/>
                <a:cs typeface="Aptos" pitchFamily="34" charset="-120"/>
              </a:rPr>
              <a:t>Move the cleaned note into the downstream workflow.</a:t>
            </a:r>
            <a:endParaRPr lang="en-US" sz="1350" dirty="0"/>
          </a:p>
        </p:txBody>
      </p:sp>
      <p:sp>
        <p:nvSpPr>
          <p:cNvPr id="20" name="Text 17"/>
          <p:cNvSpPr/>
          <p:nvPr/>
        </p:nvSpPr>
        <p:spPr>
          <a:xfrm>
            <a:off x="4279392" y="4882896"/>
            <a:ext cx="402336" cy="402336"/>
          </a:xfrm>
          <a:prstGeom prst="ellipse">
            <a:avLst/>
          </a:prstGeom>
          <a:solidFill>
            <a:srgbClr val="445874"/>
          </a:solidFill>
          <a:ln>
            <a:solidFill>
              <a:srgbClr val="445874">
                <a:alpha val="0"/>
              </a:srgbClr>
            </a:solid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4</a:t>
            </a:r>
            <a:endParaRPr lang="en-US" sz="1200" dirty="0"/>
          </a:p>
        </p:txBody>
      </p:sp>
      <p:sp>
        <p:nvSpPr>
          <p:cNvPr id="21" name="Text 18"/>
          <p:cNvSpPr/>
          <p:nvPr/>
        </p:nvSpPr>
        <p:spPr>
          <a:xfrm>
            <a:off x="4937760" y="4873752"/>
            <a:ext cx="5349240" cy="256032"/>
          </a:xfrm>
          <a:prstGeom prst="rect">
            <a:avLst/>
          </a:prstGeom>
          <a:noFill/>
          <a:ln/>
        </p:spPr>
        <p:txBody>
          <a:bodyPr wrap="square" lIns="0" tIns="0" rIns="0" bIns="0" rtlCol="0" anchor="ctr"/>
          <a:lstStyle/>
          <a:p>
            <a:pPr marL="0" indent="0">
              <a:buNone/>
            </a:pPr>
            <a:r>
              <a:rPr lang="en-US" sz="2000" b="1" dirty="0">
                <a:solidFill>
                  <a:srgbClr val="FFFFFF"/>
                </a:solidFill>
                <a:latin typeface="Aptos Display" pitchFamily="34" charset="0"/>
                <a:ea typeface="Aptos Display" pitchFamily="34" charset="-122"/>
                <a:cs typeface="Aptos Display" pitchFamily="34" charset="-120"/>
              </a:rPr>
              <a:t>Auto-map to the schedule</a:t>
            </a:r>
            <a:endParaRPr lang="en-US" sz="2000" dirty="0"/>
          </a:p>
        </p:txBody>
      </p:sp>
      <p:sp>
        <p:nvSpPr>
          <p:cNvPr id="22" name="Text 19"/>
          <p:cNvSpPr/>
          <p:nvPr/>
        </p:nvSpPr>
        <p:spPr>
          <a:xfrm>
            <a:off x="4937760" y="5166360"/>
            <a:ext cx="5394960" cy="429768"/>
          </a:xfrm>
          <a:prstGeom prst="rect">
            <a:avLst/>
          </a:prstGeom>
          <a:noFill/>
          <a:ln/>
        </p:spPr>
        <p:txBody>
          <a:bodyPr wrap="square" lIns="0" tIns="0" rIns="0" bIns="0" rtlCol="0" anchor="ctr"/>
          <a:lstStyle/>
          <a:p>
            <a:pPr marL="0" indent="0">
              <a:buNone/>
            </a:pPr>
            <a:r>
              <a:rPr lang="en-US" sz="1350" dirty="0">
                <a:solidFill>
                  <a:srgbClr val="C7D3E0"/>
                </a:solidFill>
                <a:latin typeface="Aptos" pitchFamily="34" charset="0"/>
                <a:ea typeface="Aptos" pitchFamily="34" charset="-122"/>
                <a:cs typeface="Aptos" pitchFamily="34" charset="-120"/>
              </a:rPr>
              <a:t>Infer schedule updates from the note and connect them to the right activities.</a:t>
            </a:r>
            <a:endParaRPr lang="en-US" sz="1350" dirty="0"/>
          </a:p>
        </p:txBody>
      </p:sp>
      <p:sp>
        <p:nvSpPr>
          <p:cNvPr id="23" name="Shape 20"/>
          <p:cNvSpPr/>
          <p:nvPr/>
        </p:nvSpPr>
        <p:spPr>
          <a:xfrm>
            <a:off x="4206240" y="5980176"/>
            <a:ext cx="7242048" cy="402336"/>
          </a:xfrm>
          <a:prstGeom prst="roundRect">
            <a:avLst>
              <a:gd name="adj" fmla="val 15909"/>
            </a:avLst>
          </a:prstGeom>
          <a:solidFill>
            <a:srgbClr val="0B2D52"/>
          </a:solidFill>
          <a:ln w="10160">
            <a:solidFill>
              <a:srgbClr val="2A4E72"/>
            </a:solidFill>
            <a:prstDash val="solid"/>
          </a:ln>
        </p:spPr>
        <p:txBody>
          <a:bodyPr/>
          <a:lstStyle/>
          <a:p>
            <a:endParaRPr lang="en-US"/>
          </a:p>
        </p:txBody>
      </p:sp>
      <p:sp>
        <p:nvSpPr>
          <p:cNvPr id="24" name="Text 21"/>
          <p:cNvSpPr/>
          <p:nvPr/>
        </p:nvSpPr>
        <p:spPr>
          <a:xfrm>
            <a:off x="4443984" y="6071616"/>
            <a:ext cx="6766560" cy="210312"/>
          </a:xfrm>
          <a:prstGeom prst="rect">
            <a:avLst/>
          </a:prstGeom>
          <a:noFill/>
          <a:ln/>
        </p:spPr>
        <p:txBody>
          <a:bodyPr wrap="square" lIns="0" tIns="0" rIns="0" bIns="0" rtlCol="0" anchor="ctr"/>
          <a:lstStyle/>
          <a:p>
            <a:pPr algn="ctr"/>
            <a:r>
              <a:rPr lang="en-US" sz="1300" b="1" dirty="0">
                <a:solidFill>
                  <a:srgbClr val="D8E2EC"/>
                </a:solidFill>
                <a:latin typeface="Aptos"/>
              </a:rPr>
              <a:t>Separate Modules Re-introduce Necessary Friction While Still Speeding Up The Workflow</a:t>
            </a:r>
            <a:endParaRPr lang="en-US" sz="1300" b="1" dirty="0">
              <a:solidFill>
                <a:srgbClr val="D8E2EC"/>
              </a:solidFill>
            </a:endParaRPr>
          </a:p>
        </p:txBody>
      </p:sp>
      <p:pic>
        <p:nvPicPr>
          <p:cNvPr id="28" name="Picture 27">
            <a:extLst>
              <a:ext uri="{FF2B5EF4-FFF2-40B4-BE49-F238E27FC236}">
                <a16:creationId xmlns:a16="http://schemas.microsoft.com/office/drawing/2014/main" id="{6268576A-B9BC-88DA-8F3F-BEB69BCACB65}"/>
              </a:ext>
            </a:extLst>
          </p:cNvPr>
          <p:cNvPicPr>
            <a:picLocks noChangeAspect="1"/>
          </p:cNvPicPr>
          <p:nvPr/>
        </p:nvPicPr>
        <p:blipFill>
          <a:blip r:embed="rId3"/>
          <a:srcRect/>
          <a:stretch>
            <a:fillRect/>
          </a:stretch>
        </p:blipFill>
        <p:spPr>
          <a:xfrm>
            <a:off x="837110" y="1225295"/>
            <a:ext cx="2646190" cy="5215039"/>
          </a:xfrm>
          <a:prstGeom prst="roundRect">
            <a:avLst>
              <a:gd name="adj" fmla="val 5178"/>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4" grpId="0" animBg="1"/>
      <p:bldP spid="15" grpId="0" animBg="1"/>
      <p:bldP spid="18" grpId="0" animBg="1"/>
      <p:bldP spid="19" grpId="0" animBg="1"/>
      <p:bldP spid="21" grpId="0" animBg="1"/>
      <p:bldP spid="22" grpId="0" animBg="1"/>
      <p:bldP spid="23" grpId="0" animBg="1"/>
      <p:bldP spid="2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1C40"/>
        </a:solidFill>
        <a:effectLst/>
      </p:bgPr>
    </p:bg>
    <p:spTree>
      <p:nvGrpSpPr>
        <p:cNvPr id="1" name="">
          <a:extLst>
            <a:ext uri="{FF2B5EF4-FFF2-40B4-BE49-F238E27FC236}">
              <a16:creationId xmlns:a16="http://schemas.microsoft.com/office/drawing/2014/main" id="{F2A4A9CB-C7BF-383B-B925-DAEDFE07DDC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6D472E3-490E-553F-0259-1951BDDB1A86}"/>
              </a:ext>
            </a:extLst>
          </p:cNvPr>
          <p:cNvSpPr/>
          <p:nvPr/>
        </p:nvSpPr>
        <p:spPr>
          <a:xfrm>
            <a:off x="658368" y="438912"/>
            <a:ext cx="512064" cy="0"/>
          </a:xfrm>
          <a:prstGeom prst="line">
            <a:avLst/>
          </a:prstGeom>
          <a:noFill/>
          <a:ln w="50800">
            <a:solidFill>
              <a:srgbClr val="C40C3C"/>
            </a:solidFill>
            <a:prstDash val="solid"/>
          </a:ln>
        </p:spPr>
        <p:txBody>
          <a:bodyPr/>
          <a:lstStyle/>
          <a:p>
            <a:endParaRPr lang="en-US"/>
          </a:p>
        </p:txBody>
      </p:sp>
      <p:sp>
        <p:nvSpPr>
          <p:cNvPr id="3" name="Text 1">
            <a:extLst>
              <a:ext uri="{FF2B5EF4-FFF2-40B4-BE49-F238E27FC236}">
                <a16:creationId xmlns:a16="http://schemas.microsoft.com/office/drawing/2014/main" id="{0F5AB66E-D987-6ED3-5A8A-F86EF88BFB2B}"/>
              </a:ext>
            </a:extLst>
          </p:cNvPr>
          <p:cNvSpPr/>
          <p:nvPr/>
        </p:nvSpPr>
        <p:spPr>
          <a:xfrm>
            <a:off x="658368" y="603504"/>
            <a:ext cx="8915400" cy="457200"/>
          </a:xfrm>
          <a:prstGeom prst="rect">
            <a:avLst/>
          </a:prstGeom>
          <a:noFill/>
          <a:ln/>
        </p:spPr>
        <p:txBody>
          <a:bodyPr wrap="square" lIns="0" tIns="0" rIns="0" bIns="0" rtlCol="0" anchor="ctr"/>
          <a:lstStyle/>
          <a:p>
            <a:pPr marL="0" indent="0">
              <a:buNone/>
            </a:pPr>
            <a:r>
              <a:rPr lang="en-US" sz="3100" b="1" dirty="0">
                <a:solidFill>
                  <a:srgbClr val="FFFFFF"/>
                </a:solidFill>
                <a:latin typeface="Aptos Display" pitchFamily="34" charset="0"/>
                <a:ea typeface="Aptos Display" pitchFamily="34" charset="-122"/>
                <a:cs typeface="Aptos Display" pitchFamily="34" charset="-120"/>
              </a:rPr>
              <a:t>Workflow Diagram</a:t>
            </a:r>
            <a:endParaRPr lang="en-US" sz="3100" dirty="0"/>
          </a:p>
        </p:txBody>
      </p:sp>
      <p:sp>
        <p:nvSpPr>
          <p:cNvPr id="5" name="Text 3">
            <a:extLst>
              <a:ext uri="{FF2B5EF4-FFF2-40B4-BE49-F238E27FC236}">
                <a16:creationId xmlns:a16="http://schemas.microsoft.com/office/drawing/2014/main" id="{4FBC1E59-2AD7-4E0F-D9FA-DB65C69EB1F0}"/>
              </a:ext>
            </a:extLst>
          </p:cNvPr>
          <p:cNvSpPr/>
          <p:nvPr/>
        </p:nvSpPr>
        <p:spPr>
          <a:xfrm>
            <a:off x="10241280" y="603504"/>
            <a:ext cx="1188720" cy="329184"/>
          </a:xfrm>
          <a:prstGeom prst="roundRect">
            <a:avLst>
              <a:gd name="adj" fmla="val 22222"/>
            </a:avLst>
          </a:prstGeom>
          <a:solidFill>
            <a:srgbClr val="C40C3C"/>
          </a:solidFill>
          <a:ln>
            <a:solidFill>
              <a:srgbClr val="C40C3C">
                <a:alpha val="0"/>
              </a:srgbClr>
            </a:solidFill>
          </a:ln>
        </p:spPr>
        <p:txBody>
          <a:bodyPr wrap="square" lIns="0" tIns="0" rIns="0" bIns="0" rtlCol="0" anchor="ctr"/>
          <a:lstStyle/>
          <a:p>
            <a:pPr marL="0" indent="0" algn="ctr">
              <a:buNone/>
            </a:pPr>
            <a:r>
              <a:rPr lang="en-US" sz="1050" b="1" kern="0" spc="100" dirty="0">
                <a:solidFill>
                  <a:srgbClr val="FFFFFF"/>
                </a:solidFill>
                <a:latin typeface="Aptos" pitchFamily="34" charset="0"/>
                <a:ea typeface="Aptos" pitchFamily="34" charset="-122"/>
                <a:cs typeface="Aptos" pitchFamily="34" charset="-120"/>
              </a:rPr>
              <a:t>DEMO</a:t>
            </a:r>
            <a:endParaRPr lang="en-US" sz="1050" dirty="0"/>
          </a:p>
        </p:txBody>
      </p:sp>
      <p:pic>
        <p:nvPicPr>
          <p:cNvPr id="7" name="Picture 6">
            <a:extLst>
              <a:ext uri="{FF2B5EF4-FFF2-40B4-BE49-F238E27FC236}">
                <a16:creationId xmlns:a16="http://schemas.microsoft.com/office/drawing/2014/main" id="{AC5E6177-60A5-4D6E-41E3-EBD3896E49A1}"/>
              </a:ext>
            </a:extLst>
          </p:cNvPr>
          <p:cNvPicPr>
            <a:picLocks noChangeAspect="1"/>
          </p:cNvPicPr>
          <p:nvPr/>
        </p:nvPicPr>
        <p:blipFill>
          <a:blip r:embed="rId3"/>
          <a:srcRect b="11114"/>
          <a:stretch>
            <a:fillRect/>
          </a:stretch>
        </p:blipFill>
        <p:spPr>
          <a:xfrm>
            <a:off x="1458765" y="1225295"/>
            <a:ext cx="9274469" cy="5358385"/>
          </a:xfrm>
          <a:prstGeom prst="rect">
            <a:avLst/>
          </a:prstGeom>
        </p:spPr>
      </p:pic>
    </p:spTree>
    <p:extLst>
      <p:ext uri="{BB962C8B-B14F-4D97-AF65-F5344CB8AC3E}">
        <p14:creationId xmlns:p14="http://schemas.microsoft.com/office/powerpoint/2010/main" val="14341927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a:extLst>
            <a:ext uri="{FF2B5EF4-FFF2-40B4-BE49-F238E27FC236}">
              <a16:creationId xmlns:a16="http://schemas.microsoft.com/office/drawing/2014/main" id="{173F6C6E-03D0-BA31-2D3D-7DE05F55074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2690868-9E8A-D7A2-BD3A-17828004E14B}"/>
              </a:ext>
            </a:extLst>
          </p:cNvPr>
          <p:cNvSpPr/>
          <p:nvPr/>
        </p:nvSpPr>
        <p:spPr>
          <a:xfrm>
            <a:off x="658368" y="438912"/>
            <a:ext cx="512064" cy="0"/>
          </a:xfrm>
          <a:prstGeom prst="line">
            <a:avLst/>
          </a:prstGeom>
          <a:noFill/>
          <a:ln w="50800">
            <a:solidFill>
              <a:schemeClr val="accent1">
                <a:lumMod val="40000"/>
                <a:lumOff val="60000"/>
              </a:schemeClr>
            </a:solidFill>
            <a:prstDash val="solid"/>
          </a:ln>
        </p:spPr>
        <p:txBody>
          <a:bodyPr/>
          <a:lstStyle/>
          <a:p>
            <a:endParaRPr lang="en-US"/>
          </a:p>
        </p:txBody>
      </p:sp>
      <p:sp>
        <p:nvSpPr>
          <p:cNvPr id="3" name="Text 1">
            <a:extLst>
              <a:ext uri="{FF2B5EF4-FFF2-40B4-BE49-F238E27FC236}">
                <a16:creationId xmlns:a16="http://schemas.microsoft.com/office/drawing/2014/main" id="{1F92BA40-E149-9620-C05B-6E60389EB7E0}"/>
              </a:ext>
            </a:extLst>
          </p:cNvPr>
          <p:cNvSpPr/>
          <p:nvPr/>
        </p:nvSpPr>
        <p:spPr>
          <a:xfrm>
            <a:off x="658368" y="603504"/>
            <a:ext cx="10607040" cy="457200"/>
          </a:xfrm>
          <a:prstGeom prst="rect">
            <a:avLst/>
          </a:prstGeom>
          <a:noFill/>
          <a:ln/>
        </p:spPr>
        <p:txBody>
          <a:bodyPr wrap="square" lIns="0" tIns="0" rIns="0" bIns="0" rtlCol="0" anchor="ctr"/>
          <a:lstStyle/>
          <a:p>
            <a:pPr marL="0" indent="0">
              <a:buNone/>
            </a:pPr>
            <a:r>
              <a:rPr lang="en-US" sz="3100" b="1" dirty="0">
                <a:solidFill>
                  <a:srgbClr val="071E41"/>
                </a:solidFill>
                <a:latin typeface="Aptos Display" pitchFamily="34" charset="0"/>
                <a:ea typeface="Aptos Display" pitchFamily="34" charset="-122"/>
                <a:cs typeface="Aptos Display" pitchFamily="34" charset="-120"/>
              </a:rPr>
              <a:t>The Story of </a:t>
            </a:r>
            <a:r>
              <a:rPr lang="en-US" sz="3100" b="1" dirty="0" err="1">
                <a:solidFill>
                  <a:srgbClr val="071E41"/>
                </a:solidFill>
                <a:latin typeface="Aptos Display" pitchFamily="34" charset="0"/>
                <a:ea typeface="Aptos Display" pitchFamily="34" charset="-122"/>
                <a:cs typeface="Aptos Display" pitchFamily="34" charset="-120"/>
              </a:rPr>
              <a:t>AQuA</a:t>
            </a:r>
            <a:r>
              <a:rPr lang="en-US" sz="3100" b="1" dirty="0">
                <a:solidFill>
                  <a:srgbClr val="071E41"/>
                </a:solidFill>
                <a:latin typeface="Aptos Display" pitchFamily="34" charset="0"/>
                <a:ea typeface="Aptos Display" pitchFamily="34" charset="-122"/>
                <a:cs typeface="Aptos Display" pitchFamily="34" charset="-120"/>
              </a:rPr>
              <a:t> (Bonus Time)</a:t>
            </a:r>
            <a:endParaRPr lang="en-US" sz="3100" dirty="0"/>
          </a:p>
        </p:txBody>
      </p:sp>
      <p:sp>
        <p:nvSpPr>
          <p:cNvPr id="14" name="Text 11">
            <a:extLst>
              <a:ext uri="{FF2B5EF4-FFF2-40B4-BE49-F238E27FC236}">
                <a16:creationId xmlns:a16="http://schemas.microsoft.com/office/drawing/2014/main" id="{FBCE3856-4C25-78E1-883D-2C2925790D55}"/>
              </a:ext>
            </a:extLst>
          </p:cNvPr>
          <p:cNvSpPr/>
          <p:nvPr/>
        </p:nvSpPr>
        <p:spPr>
          <a:xfrm>
            <a:off x="5779008" y="5413248"/>
            <a:ext cx="3227832" cy="182880"/>
          </a:xfrm>
          <a:prstGeom prst="rect">
            <a:avLst/>
          </a:prstGeom>
          <a:noFill/>
          <a:ln/>
        </p:spPr>
        <p:txBody>
          <a:bodyPr wrap="square" lIns="0" tIns="0" rIns="0" bIns="0" rtlCol="0" anchor="ctr"/>
          <a:lstStyle/>
          <a:p>
            <a:pPr marL="0" indent="0">
              <a:buNone/>
            </a:pPr>
            <a:r>
              <a:rPr lang="en-US" sz="890" b="1" kern="0" spc="100" dirty="0">
                <a:solidFill>
                  <a:srgbClr val="FFFFFF"/>
                </a:solidFill>
                <a:latin typeface="Aptos" pitchFamily="34" charset="0"/>
                <a:ea typeface="Aptos" pitchFamily="34" charset="-122"/>
                <a:cs typeface="Aptos" pitchFamily="34" charset="-120"/>
              </a:rPr>
              <a:t>ON SITE WITH THE SUFFOLK TEAM</a:t>
            </a:r>
            <a:endParaRPr lang="en-US" sz="890" dirty="0"/>
          </a:p>
        </p:txBody>
      </p:sp>
      <p:sp>
        <p:nvSpPr>
          <p:cNvPr id="23" name="Text 3">
            <a:extLst>
              <a:ext uri="{FF2B5EF4-FFF2-40B4-BE49-F238E27FC236}">
                <a16:creationId xmlns:a16="http://schemas.microsoft.com/office/drawing/2014/main" id="{76705F35-A833-DA67-10A5-ECC22CE62B23}"/>
              </a:ext>
            </a:extLst>
          </p:cNvPr>
          <p:cNvSpPr/>
          <p:nvPr/>
        </p:nvSpPr>
        <p:spPr>
          <a:xfrm>
            <a:off x="658368" y="1121663"/>
            <a:ext cx="5910072" cy="5311140"/>
          </a:xfrm>
          <a:prstGeom prst="rect">
            <a:avLst/>
          </a:prstGeom>
          <a:noFill/>
          <a:ln/>
        </p:spPr>
        <p:txBody>
          <a:bodyPr wrap="square" lIns="0" tIns="0" rIns="0" bIns="0" rtlCol="0" anchor="ctr"/>
          <a:lstStyle/>
          <a:p>
            <a:pPr marL="0" indent="0">
              <a:lnSpc>
                <a:spcPct val="150000"/>
              </a:lnSpc>
              <a:buNone/>
            </a:pPr>
            <a:r>
              <a:rPr lang="en-US" sz="2400" b="1" dirty="0">
                <a:solidFill>
                  <a:srgbClr val="071E41"/>
                </a:solidFill>
                <a:latin typeface="Aptos Display" pitchFamily="34" charset="0"/>
                <a:ea typeface="Aptos Display" pitchFamily="34" charset="-122"/>
                <a:cs typeface="Aptos Display" pitchFamily="34" charset="-120"/>
              </a:rPr>
              <a:t>Talk to Your Data</a:t>
            </a:r>
          </a:p>
          <a:p>
            <a:pPr marL="800100" lvl="1" indent="-342900">
              <a:lnSpc>
                <a:spcPct val="150000"/>
              </a:lnSpc>
              <a:buFont typeface="Arial" panose="020B0604020202020204" pitchFamily="34" charset="0"/>
              <a:buChar char="•"/>
            </a:pPr>
            <a:r>
              <a:rPr lang="en-US" sz="2400" dirty="0">
                <a:solidFill>
                  <a:srgbClr val="071E41"/>
                </a:solidFill>
                <a:latin typeface="Aptos Display" pitchFamily="34" charset="0"/>
              </a:rPr>
              <a:t>Semi-technical stakeholders want more </a:t>
            </a:r>
            <a:r>
              <a:rPr lang="en-US" sz="2400" b="1" dirty="0">
                <a:solidFill>
                  <a:srgbClr val="071E41"/>
                </a:solidFill>
                <a:latin typeface="Aptos Display" pitchFamily="34" charset="0"/>
              </a:rPr>
              <a:t>hands-on connection to their data</a:t>
            </a:r>
          </a:p>
          <a:p>
            <a:pPr marL="800100" lvl="1" indent="-342900">
              <a:lnSpc>
                <a:spcPct val="150000"/>
              </a:lnSpc>
              <a:buFont typeface="Arial" panose="020B0604020202020204" pitchFamily="34" charset="0"/>
              <a:buChar char="•"/>
            </a:pPr>
            <a:r>
              <a:rPr lang="en-US" sz="2400" dirty="0">
                <a:solidFill>
                  <a:srgbClr val="071E41"/>
                </a:solidFill>
                <a:latin typeface="Aptos Display" pitchFamily="34" charset="0"/>
              </a:rPr>
              <a:t>Large amount of </a:t>
            </a:r>
            <a:r>
              <a:rPr lang="en-US" sz="2400" dirty="0" err="1">
                <a:solidFill>
                  <a:srgbClr val="071E41"/>
                </a:solidFill>
                <a:latin typeface="Aptos Display" pitchFamily="34" charset="0"/>
              </a:rPr>
              <a:t>adhoc</a:t>
            </a:r>
            <a:r>
              <a:rPr lang="en-US" sz="2400" dirty="0">
                <a:solidFill>
                  <a:srgbClr val="071E41"/>
                </a:solidFill>
                <a:latin typeface="Aptos Display" pitchFamily="34" charset="0"/>
              </a:rPr>
              <a:t> data pull requests </a:t>
            </a:r>
            <a:r>
              <a:rPr lang="en-US" sz="2400" b="1" dirty="0">
                <a:solidFill>
                  <a:srgbClr val="071E41"/>
                </a:solidFill>
                <a:latin typeface="Aptos Display" pitchFamily="34" charset="0"/>
              </a:rPr>
              <a:t>slowing down Data Team</a:t>
            </a:r>
          </a:p>
          <a:p>
            <a:pPr>
              <a:lnSpc>
                <a:spcPct val="150000"/>
              </a:lnSpc>
            </a:pPr>
            <a:r>
              <a:rPr lang="en-US" sz="2400" b="1" dirty="0">
                <a:solidFill>
                  <a:srgbClr val="071E41"/>
                </a:solidFill>
                <a:latin typeface="Aptos Display" pitchFamily="34" charset="0"/>
              </a:rPr>
              <a:t>Build vs Buy</a:t>
            </a:r>
          </a:p>
          <a:p>
            <a:pPr marL="800100" lvl="1" indent="-342900">
              <a:lnSpc>
                <a:spcPct val="150000"/>
              </a:lnSpc>
              <a:buFont typeface="Arial" panose="020B0604020202020204" pitchFamily="34" charset="0"/>
              <a:buChar char="•"/>
            </a:pPr>
            <a:r>
              <a:rPr lang="en-US" sz="2400" dirty="0">
                <a:solidFill>
                  <a:srgbClr val="071E41"/>
                </a:solidFill>
                <a:latin typeface="Aptos Display" pitchFamily="34" charset="0"/>
              </a:rPr>
              <a:t>Services on the market</a:t>
            </a:r>
          </a:p>
          <a:p>
            <a:pPr marL="1257300" lvl="2" indent="-342900">
              <a:lnSpc>
                <a:spcPct val="150000"/>
              </a:lnSpc>
              <a:buFont typeface="Arial" panose="020B0604020202020204" pitchFamily="34" charset="0"/>
              <a:buChar char="•"/>
            </a:pPr>
            <a:r>
              <a:rPr lang="en-US" sz="2400" b="1" dirty="0">
                <a:solidFill>
                  <a:srgbClr val="071E41"/>
                </a:solidFill>
                <a:latin typeface="Aptos Display" pitchFamily="34" charset="0"/>
              </a:rPr>
              <a:t>Expensive, slow, or inaccurate</a:t>
            </a:r>
          </a:p>
          <a:p>
            <a:pPr marL="800100" lvl="1" indent="-342900">
              <a:lnSpc>
                <a:spcPct val="150000"/>
              </a:lnSpc>
              <a:buFont typeface="Arial" panose="020B0604020202020204" pitchFamily="34" charset="0"/>
              <a:buChar char="•"/>
            </a:pPr>
            <a:r>
              <a:rPr lang="en-US" sz="2400" dirty="0">
                <a:solidFill>
                  <a:srgbClr val="071E41"/>
                </a:solidFill>
                <a:latin typeface="Aptos Display" pitchFamily="34" charset="0"/>
              </a:rPr>
              <a:t>Attempt to build using best practices</a:t>
            </a:r>
          </a:p>
          <a:p>
            <a:pPr marL="1257300" lvl="2" indent="-342900">
              <a:lnSpc>
                <a:spcPct val="150000"/>
              </a:lnSpc>
              <a:buFont typeface="Arial" panose="020B0604020202020204" pitchFamily="34" charset="0"/>
              <a:buChar char="•"/>
            </a:pPr>
            <a:r>
              <a:rPr lang="en-US" sz="2400" dirty="0" err="1">
                <a:solidFill>
                  <a:srgbClr val="071E41"/>
                </a:solidFill>
                <a:latin typeface="Aptos Display" pitchFamily="34" charset="0"/>
              </a:rPr>
              <a:t>Adhoc</a:t>
            </a:r>
            <a:r>
              <a:rPr lang="en-US" sz="2400" dirty="0">
                <a:solidFill>
                  <a:srgbClr val="071E41"/>
                </a:solidFill>
                <a:latin typeface="Aptos Display" pitchFamily="34" charset="0"/>
              </a:rPr>
              <a:t> Query Agent</a:t>
            </a:r>
            <a:r>
              <a:rPr lang="en-US" sz="2400" b="1" dirty="0">
                <a:solidFill>
                  <a:srgbClr val="071E41"/>
                </a:solidFill>
                <a:latin typeface="Aptos Display" pitchFamily="34" charset="0"/>
              </a:rPr>
              <a:t> (</a:t>
            </a:r>
            <a:r>
              <a:rPr lang="en-US" sz="2400" b="1" dirty="0" err="1">
                <a:solidFill>
                  <a:srgbClr val="071E41"/>
                </a:solidFill>
                <a:latin typeface="Aptos Display" pitchFamily="34" charset="0"/>
              </a:rPr>
              <a:t>AQuA</a:t>
            </a:r>
            <a:r>
              <a:rPr lang="en-US" sz="2400" b="1" dirty="0">
                <a:solidFill>
                  <a:srgbClr val="071E41"/>
                </a:solidFill>
                <a:latin typeface="Aptos Display" pitchFamily="34" charset="0"/>
              </a:rPr>
              <a:t>!)</a:t>
            </a:r>
          </a:p>
        </p:txBody>
      </p:sp>
      <p:pic>
        <p:nvPicPr>
          <p:cNvPr id="4" name="Picture 3" descr="From 0 Likes to Meme Engineer - DEV Community">
            <a:extLst>
              <a:ext uri="{FF2B5EF4-FFF2-40B4-BE49-F238E27FC236}">
                <a16:creationId xmlns:a16="http://schemas.microsoft.com/office/drawing/2014/main" id="{B5C93109-BFBD-F375-6185-944102A2B1B5}"/>
              </a:ext>
            </a:extLst>
          </p:cNvPr>
          <p:cNvPicPr>
            <a:picLocks noChangeAspect="1"/>
          </p:cNvPicPr>
          <p:nvPr/>
        </p:nvPicPr>
        <p:blipFill>
          <a:blip r:embed="rId3"/>
          <a:stretch>
            <a:fillRect/>
          </a:stretch>
        </p:blipFill>
        <p:spPr>
          <a:xfrm>
            <a:off x="7239000" y="3880865"/>
            <a:ext cx="4450080" cy="2731237"/>
          </a:xfrm>
          <a:prstGeom prst="rect">
            <a:avLst/>
          </a:prstGeom>
        </p:spPr>
      </p:pic>
      <p:pic>
        <p:nvPicPr>
          <p:cNvPr id="6" name="Picture 5">
            <a:extLst>
              <a:ext uri="{FF2B5EF4-FFF2-40B4-BE49-F238E27FC236}">
                <a16:creationId xmlns:a16="http://schemas.microsoft.com/office/drawing/2014/main" id="{F3653B6C-543C-2648-C6C0-7D20393A2C8F}"/>
              </a:ext>
            </a:extLst>
          </p:cNvPr>
          <p:cNvPicPr>
            <a:picLocks noChangeAspect="1"/>
          </p:cNvPicPr>
          <p:nvPr/>
        </p:nvPicPr>
        <p:blipFill>
          <a:blip r:embed="rId4"/>
          <a:srcRect/>
          <a:stretch>
            <a:fillRect/>
          </a:stretch>
        </p:blipFill>
        <p:spPr>
          <a:xfrm>
            <a:off x="8343962" y="899160"/>
            <a:ext cx="2240156" cy="2583179"/>
          </a:xfrm>
          <a:prstGeom prst="rect">
            <a:avLst/>
          </a:prstGeom>
        </p:spPr>
      </p:pic>
    </p:spTree>
    <p:extLst>
      <p:ext uri="{BB962C8B-B14F-4D97-AF65-F5344CB8AC3E}">
        <p14:creationId xmlns:p14="http://schemas.microsoft.com/office/powerpoint/2010/main" val="22140483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1C40"/>
        </a:solidFill>
        <a:effectLst/>
      </p:bgPr>
    </p:bg>
    <p:spTree>
      <p:nvGrpSpPr>
        <p:cNvPr id="1" name="">
          <a:extLst>
            <a:ext uri="{FF2B5EF4-FFF2-40B4-BE49-F238E27FC236}">
              <a16:creationId xmlns:a16="http://schemas.microsoft.com/office/drawing/2014/main" id="{CB8C0A31-4A68-C9FA-B7F4-051BC34E4D5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9AA8F68-578D-A5B7-D002-B1BD24474861}"/>
              </a:ext>
            </a:extLst>
          </p:cNvPr>
          <p:cNvSpPr/>
          <p:nvPr/>
        </p:nvSpPr>
        <p:spPr>
          <a:xfrm>
            <a:off x="658368" y="438912"/>
            <a:ext cx="512064" cy="0"/>
          </a:xfrm>
          <a:prstGeom prst="line">
            <a:avLst/>
          </a:prstGeom>
          <a:noFill/>
          <a:ln w="50800">
            <a:solidFill>
              <a:schemeClr val="accent1">
                <a:lumMod val="20000"/>
                <a:lumOff val="80000"/>
              </a:schemeClr>
            </a:solidFill>
            <a:prstDash val="solid"/>
          </a:ln>
        </p:spPr>
        <p:txBody>
          <a:bodyPr/>
          <a:lstStyle/>
          <a:p>
            <a:endParaRPr lang="en-US"/>
          </a:p>
        </p:txBody>
      </p:sp>
      <p:sp>
        <p:nvSpPr>
          <p:cNvPr id="3" name="Text 1">
            <a:extLst>
              <a:ext uri="{FF2B5EF4-FFF2-40B4-BE49-F238E27FC236}">
                <a16:creationId xmlns:a16="http://schemas.microsoft.com/office/drawing/2014/main" id="{EEC73CE3-0936-9E0B-7380-565A3EC0E58C}"/>
              </a:ext>
            </a:extLst>
          </p:cNvPr>
          <p:cNvSpPr/>
          <p:nvPr/>
        </p:nvSpPr>
        <p:spPr>
          <a:xfrm>
            <a:off x="658368" y="603504"/>
            <a:ext cx="8915400" cy="457200"/>
          </a:xfrm>
          <a:prstGeom prst="rect">
            <a:avLst/>
          </a:prstGeom>
          <a:noFill/>
          <a:ln/>
        </p:spPr>
        <p:txBody>
          <a:bodyPr wrap="square" lIns="0" tIns="0" rIns="0" bIns="0" rtlCol="0" anchor="ctr"/>
          <a:lstStyle/>
          <a:p>
            <a:pPr marL="0" indent="0">
              <a:buNone/>
            </a:pPr>
            <a:r>
              <a:rPr lang="en-US" sz="3100" b="1" dirty="0" err="1">
                <a:solidFill>
                  <a:srgbClr val="FFFFFF"/>
                </a:solidFill>
                <a:latin typeface="Aptos Display" pitchFamily="34" charset="0"/>
                <a:ea typeface="Aptos Display" pitchFamily="34" charset="-122"/>
                <a:cs typeface="Aptos Display" pitchFamily="34" charset="-120"/>
              </a:rPr>
              <a:t>AQuA</a:t>
            </a:r>
            <a:r>
              <a:rPr lang="en-US" sz="3100" b="1" dirty="0">
                <a:solidFill>
                  <a:srgbClr val="FFFFFF"/>
                </a:solidFill>
                <a:latin typeface="Aptos Display" pitchFamily="34" charset="0"/>
                <a:ea typeface="Aptos Display" pitchFamily="34" charset="-122"/>
                <a:cs typeface="Aptos Display" pitchFamily="34" charset="-120"/>
              </a:rPr>
              <a:t> (Bonus Time)</a:t>
            </a:r>
            <a:endParaRPr lang="en-US" sz="3100" dirty="0"/>
          </a:p>
        </p:txBody>
      </p:sp>
      <p:sp>
        <p:nvSpPr>
          <p:cNvPr id="5" name="Text 3">
            <a:extLst>
              <a:ext uri="{FF2B5EF4-FFF2-40B4-BE49-F238E27FC236}">
                <a16:creationId xmlns:a16="http://schemas.microsoft.com/office/drawing/2014/main" id="{673B0878-06FD-2BF9-9171-34DCB497FFED}"/>
              </a:ext>
            </a:extLst>
          </p:cNvPr>
          <p:cNvSpPr/>
          <p:nvPr/>
        </p:nvSpPr>
        <p:spPr>
          <a:xfrm>
            <a:off x="10241280" y="603504"/>
            <a:ext cx="1188720" cy="329184"/>
          </a:xfrm>
          <a:prstGeom prst="roundRect">
            <a:avLst>
              <a:gd name="adj" fmla="val 22222"/>
            </a:avLst>
          </a:prstGeom>
          <a:solidFill>
            <a:schemeClr val="accent1">
              <a:lumMod val="40000"/>
              <a:lumOff val="60000"/>
            </a:schemeClr>
          </a:solidFill>
          <a:ln>
            <a:solidFill>
              <a:srgbClr val="C40C3C">
                <a:alpha val="0"/>
              </a:srgbClr>
            </a:solidFill>
          </a:ln>
        </p:spPr>
        <p:txBody>
          <a:bodyPr wrap="square" lIns="0" tIns="0" rIns="0" bIns="0" rtlCol="0" anchor="ctr"/>
          <a:lstStyle/>
          <a:p>
            <a:pPr marL="0" indent="0" algn="ctr">
              <a:buNone/>
            </a:pPr>
            <a:r>
              <a:rPr lang="en-US" sz="1050" b="1" kern="0" spc="100" dirty="0">
                <a:solidFill>
                  <a:srgbClr val="FFFFFF"/>
                </a:solidFill>
                <a:latin typeface="Aptos" pitchFamily="34" charset="0"/>
                <a:ea typeface="Aptos" pitchFamily="34" charset="-122"/>
                <a:cs typeface="Aptos" pitchFamily="34" charset="-120"/>
              </a:rPr>
              <a:t>DEMO</a:t>
            </a:r>
            <a:endParaRPr lang="en-US" sz="1050" dirty="0"/>
          </a:p>
        </p:txBody>
      </p:sp>
      <p:sp>
        <p:nvSpPr>
          <p:cNvPr id="18" name="Text 5">
            <a:extLst>
              <a:ext uri="{FF2B5EF4-FFF2-40B4-BE49-F238E27FC236}">
                <a16:creationId xmlns:a16="http://schemas.microsoft.com/office/drawing/2014/main" id="{1DEAD0F6-4CAC-0EB7-9162-3267CE973932}"/>
              </a:ext>
            </a:extLst>
          </p:cNvPr>
          <p:cNvSpPr/>
          <p:nvPr/>
        </p:nvSpPr>
        <p:spPr>
          <a:xfrm>
            <a:off x="5376672" y="1726692"/>
            <a:ext cx="402336" cy="402336"/>
          </a:xfrm>
          <a:prstGeom prst="ellipse">
            <a:avLst/>
          </a:prstGeom>
          <a:solidFill>
            <a:schemeClr val="accent1">
              <a:lumMod val="40000"/>
              <a:lumOff val="60000"/>
            </a:schemeClr>
          </a:solidFill>
          <a:ln>
            <a:solidFill>
              <a:srgbClr val="C40C3C">
                <a:alpha val="0"/>
              </a:srgbClr>
            </a:solid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1</a:t>
            </a:r>
            <a:endParaRPr lang="en-US" sz="1200" dirty="0"/>
          </a:p>
        </p:txBody>
      </p:sp>
      <p:sp>
        <p:nvSpPr>
          <p:cNvPr id="19" name="Shape 6">
            <a:extLst>
              <a:ext uri="{FF2B5EF4-FFF2-40B4-BE49-F238E27FC236}">
                <a16:creationId xmlns:a16="http://schemas.microsoft.com/office/drawing/2014/main" id="{9FFFC74E-A94B-F40B-6F84-7262222979C1}"/>
              </a:ext>
            </a:extLst>
          </p:cNvPr>
          <p:cNvSpPr/>
          <p:nvPr/>
        </p:nvSpPr>
        <p:spPr>
          <a:xfrm>
            <a:off x="5577840" y="2129028"/>
            <a:ext cx="0" cy="502920"/>
          </a:xfrm>
          <a:prstGeom prst="line">
            <a:avLst/>
          </a:prstGeom>
          <a:noFill/>
          <a:ln w="19050">
            <a:solidFill>
              <a:srgbClr val="526F8E"/>
            </a:solidFill>
            <a:prstDash val="solid"/>
          </a:ln>
        </p:spPr>
        <p:txBody>
          <a:bodyPr/>
          <a:lstStyle/>
          <a:p>
            <a:endParaRPr lang="en-US"/>
          </a:p>
        </p:txBody>
      </p:sp>
      <p:sp>
        <p:nvSpPr>
          <p:cNvPr id="20" name="Text 7">
            <a:extLst>
              <a:ext uri="{FF2B5EF4-FFF2-40B4-BE49-F238E27FC236}">
                <a16:creationId xmlns:a16="http://schemas.microsoft.com/office/drawing/2014/main" id="{018D4C21-93D7-924F-634E-09AD987C112F}"/>
              </a:ext>
            </a:extLst>
          </p:cNvPr>
          <p:cNvSpPr/>
          <p:nvPr/>
        </p:nvSpPr>
        <p:spPr>
          <a:xfrm>
            <a:off x="6035040" y="1717548"/>
            <a:ext cx="5349240" cy="256032"/>
          </a:xfrm>
          <a:prstGeom prst="rect">
            <a:avLst/>
          </a:prstGeom>
          <a:noFill/>
          <a:ln/>
        </p:spPr>
        <p:txBody>
          <a:bodyPr wrap="square" lIns="0" tIns="0" rIns="0" bIns="0" rtlCol="0" anchor="ctr"/>
          <a:lstStyle/>
          <a:p>
            <a:pPr marL="0" indent="0">
              <a:buNone/>
            </a:pPr>
            <a:r>
              <a:rPr lang="en-US" sz="2000" b="1" dirty="0">
                <a:solidFill>
                  <a:srgbClr val="FFFFFF"/>
                </a:solidFill>
                <a:latin typeface="Aptos Display" pitchFamily="34" charset="0"/>
              </a:rPr>
              <a:t>Context Gathering Every Time No Exceptions</a:t>
            </a:r>
            <a:endParaRPr lang="en-US" sz="2000" dirty="0"/>
          </a:p>
        </p:txBody>
      </p:sp>
      <p:sp>
        <p:nvSpPr>
          <p:cNvPr id="21" name="Text 8">
            <a:extLst>
              <a:ext uri="{FF2B5EF4-FFF2-40B4-BE49-F238E27FC236}">
                <a16:creationId xmlns:a16="http://schemas.microsoft.com/office/drawing/2014/main" id="{E738EE48-66EE-8B48-6704-7EE2EC0D544F}"/>
              </a:ext>
            </a:extLst>
          </p:cNvPr>
          <p:cNvSpPr/>
          <p:nvPr/>
        </p:nvSpPr>
        <p:spPr>
          <a:xfrm>
            <a:off x="6035040" y="2010156"/>
            <a:ext cx="5394960" cy="429768"/>
          </a:xfrm>
          <a:prstGeom prst="rect">
            <a:avLst/>
          </a:prstGeom>
          <a:noFill/>
          <a:ln/>
        </p:spPr>
        <p:txBody>
          <a:bodyPr wrap="square" lIns="0" tIns="0" rIns="0" bIns="0" rtlCol="0" anchor="ctr"/>
          <a:lstStyle/>
          <a:p>
            <a:pPr marL="0" indent="0">
              <a:buNone/>
            </a:pPr>
            <a:r>
              <a:rPr lang="en-US" sz="1350" dirty="0">
                <a:solidFill>
                  <a:srgbClr val="C7D3E0"/>
                </a:solidFill>
                <a:latin typeface="Aptos" pitchFamily="34" charset="0"/>
                <a:ea typeface="Aptos" pitchFamily="34" charset="-122"/>
                <a:cs typeface="Aptos" pitchFamily="34" charset="-120"/>
              </a:rPr>
              <a:t>Pull User Pushed Context, List Tables, Describe Tables</a:t>
            </a:r>
            <a:endParaRPr lang="en-US" sz="1350" dirty="0"/>
          </a:p>
        </p:txBody>
      </p:sp>
      <p:sp>
        <p:nvSpPr>
          <p:cNvPr id="22" name="Text 9">
            <a:extLst>
              <a:ext uri="{FF2B5EF4-FFF2-40B4-BE49-F238E27FC236}">
                <a16:creationId xmlns:a16="http://schemas.microsoft.com/office/drawing/2014/main" id="{DDD1D734-07A1-DA2F-CA36-15EE12AC7754}"/>
              </a:ext>
            </a:extLst>
          </p:cNvPr>
          <p:cNvSpPr/>
          <p:nvPr/>
        </p:nvSpPr>
        <p:spPr>
          <a:xfrm>
            <a:off x="5376672" y="2787396"/>
            <a:ext cx="402336" cy="402336"/>
          </a:xfrm>
          <a:prstGeom prst="ellipse">
            <a:avLst/>
          </a:prstGeom>
          <a:solidFill>
            <a:schemeClr val="accent1">
              <a:lumMod val="60000"/>
              <a:lumOff val="40000"/>
            </a:schemeClr>
          </a:solidFill>
          <a:ln>
            <a:solidFill>
              <a:srgbClr val="DC7890">
                <a:alpha val="0"/>
              </a:srgbClr>
            </a:solid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2</a:t>
            </a:r>
            <a:endParaRPr lang="en-US" sz="1200" dirty="0"/>
          </a:p>
        </p:txBody>
      </p:sp>
      <p:sp>
        <p:nvSpPr>
          <p:cNvPr id="23" name="Shape 10">
            <a:extLst>
              <a:ext uri="{FF2B5EF4-FFF2-40B4-BE49-F238E27FC236}">
                <a16:creationId xmlns:a16="http://schemas.microsoft.com/office/drawing/2014/main" id="{48540A3A-B5E1-46DD-3656-142AAE28538E}"/>
              </a:ext>
            </a:extLst>
          </p:cNvPr>
          <p:cNvSpPr/>
          <p:nvPr/>
        </p:nvSpPr>
        <p:spPr>
          <a:xfrm>
            <a:off x="5577840" y="3189732"/>
            <a:ext cx="0" cy="502920"/>
          </a:xfrm>
          <a:prstGeom prst="line">
            <a:avLst/>
          </a:prstGeom>
          <a:noFill/>
          <a:ln w="19050">
            <a:solidFill>
              <a:srgbClr val="526F8E"/>
            </a:solidFill>
            <a:prstDash val="solid"/>
          </a:ln>
        </p:spPr>
        <p:txBody>
          <a:bodyPr/>
          <a:lstStyle/>
          <a:p>
            <a:endParaRPr lang="en-US"/>
          </a:p>
        </p:txBody>
      </p:sp>
      <p:sp>
        <p:nvSpPr>
          <p:cNvPr id="24" name="Text 11">
            <a:extLst>
              <a:ext uri="{FF2B5EF4-FFF2-40B4-BE49-F238E27FC236}">
                <a16:creationId xmlns:a16="http://schemas.microsoft.com/office/drawing/2014/main" id="{D828FF90-90BD-47CA-79AB-F62BF3069F08}"/>
              </a:ext>
            </a:extLst>
          </p:cNvPr>
          <p:cNvSpPr/>
          <p:nvPr/>
        </p:nvSpPr>
        <p:spPr>
          <a:xfrm>
            <a:off x="6035040" y="2778252"/>
            <a:ext cx="5349240" cy="256032"/>
          </a:xfrm>
          <a:prstGeom prst="rect">
            <a:avLst/>
          </a:prstGeom>
          <a:noFill/>
          <a:ln/>
        </p:spPr>
        <p:txBody>
          <a:bodyPr wrap="square" lIns="0" tIns="0" rIns="0" bIns="0" rtlCol="0" anchor="ctr"/>
          <a:lstStyle/>
          <a:p>
            <a:pPr marL="0" indent="0">
              <a:buNone/>
            </a:pPr>
            <a:r>
              <a:rPr lang="en-US" sz="2000" b="1" dirty="0">
                <a:solidFill>
                  <a:srgbClr val="FFFFFF"/>
                </a:solidFill>
                <a:latin typeface="Aptos Display" pitchFamily="34" charset="0"/>
                <a:ea typeface="Aptos Display" pitchFamily="34" charset="-122"/>
                <a:cs typeface="Aptos Display" pitchFamily="34" charset="-120"/>
              </a:rPr>
              <a:t>Online Feedback Loop</a:t>
            </a:r>
            <a:endParaRPr lang="en-US" sz="2000" dirty="0"/>
          </a:p>
        </p:txBody>
      </p:sp>
      <p:sp>
        <p:nvSpPr>
          <p:cNvPr id="25" name="Text 12">
            <a:extLst>
              <a:ext uri="{FF2B5EF4-FFF2-40B4-BE49-F238E27FC236}">
                <a16:creationId xmlns:a16="http://schemas.microsoft.com/office/drawing/2014/main" id="{563B76F3-33B0-24CD-1283-B8580C5AEC2F}"/>
              </a:ext>
            </a:extLst>
          </p:cNvPr>
          <p:cNvSpPr/>
          <p:nvPr/>
        </p:nvSpPr>
        <p:spPr>
          <a:xfrm>
            <a:off x="6035040" y="3070860"/>
            <a:ext cx="5394960" cy="429768"/>
          </a:xfrm>
          <a:prstGeom prst="rect">
            <a:avLst/>
          </a:prstGeom>
          <a:noFill/>
          <a:ln/>
        </p:spPr>
        <p:txBody>
          <a:bodyPr wrap="square" lIns="0" tIns="0" rIns="0" bIns="0" rtlCol="0" anchor="ctr"/>
          <a:lstStyle/>
          <a:p>
            <a:pPr marL="0" indent="0">
              <a:buNone/>
            </a:pPr>
            <a:r>
              <a:rPr lang="en-US" sz="1350" dirty="0">
                <a:solidFill>
                  <a:srgbClr val="C7D3E0"/>
                </a:solidFill>
                <a:latin typeface="Aptos" pitchFamily="34" charset="0"/>
                <a:ea typeface="Aptos" pitchFamily="34" charset="-122"/>
                <a:cs typeface="Aptos" pitchFamily="34" charset="-120"/>
              </a:rPr>
              <a:t>Users can push business context/rules into a Knowledge Base that loops back to the agent in later sessions</a:t>
            </a:r>
            <a:endParaRPr lang="en-US" sz="1350" dirty="0"/>
          </a:p>
        </p:txBody>
      </p:sp>
      <p:sp>
        <p:nvSpPr>
          <p:cNvPr id="26" name="Text 13">
            <a:extLst>
              <a:ext uri="{FF2B5EF4-FFF2-40B4-BE49-F238E27FC236}">
                <a16:creationId xmlns:a16="http://schemas.microsoft.com/office/drawing/2014/main" id="{D158AC2A-BAD0-81BF-342E-28FC3BDE3944}"/>
              </a:ext>
            </a:extLst>
          </p:cNvPr>
          <p:cNvSpPr/>
          <p:nvPr/>
        </p:nvSpPr>
        <p:spPr>
          <a:xfrm>
            <a:off x="5376672" y="3848100"/>
            <a:ext cx="402336" cy="402336"/>
          </a:xfrm>
          <a:prstGeom prst="ellipse">
            <a:avLst/>
          </a:prstGeom>
          <a:solidFill>
            <a:schemeClr val="accent1">
              <a:lumMod val="75000"/>
            </a:schemeClr>
          </a:solidFill>
          <a:ln>
            <a:solidFill>
              <a:srgbClr val="C40C3C">
                <a:alpha val="0"/>
              </a:srgbClr>
            </a:solid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3</a:t>
            </a:r>
            <a:endParaRPr lang="en-US" sz="1200" dirty="0"/>
          </a:p>
        </p:txBody>
      </p:sp>
      <p:sp>
        <p:nvSpPr>
          <p:cNvPr id="27" name="Shape 14">
            <a:extLst>
              <a:ext uri="{FF2B5EF4-FFF2-40B4-BE49-F238E27FC236}">
                <a16:creationId xmlns:a16="http://schemas.microsoft.com/office/drawing/2014/main" id="{D605B3C6-AAC4-A71C-A896-C68020C7FD21}"/>
              </a:ext>
            </a:extLst>
          </p:cNvPr>
          <p:cNvSpPr/>
          <p:nvPr/>
        </p:nvSpPr>
        <p:spPr>
          <a:xfrm>
            <a:off x="5577840" y="4250436"/>
            <a:ext cx="0" cy="502920"/>
          </a:xfrm>
          <a:prstGeom prst="line">
            <a:avLst/>
          </a:prstGeom>
          <a:noFill/>
          <a:ln w="19050">
            <a:solidFill>
              <a:srgbClr val="526F8E"/>
            </a:solidFill>
            <a:prstDash val="solid"/>
          </a:ln>
        </p:spPr>
        <p:txBody>
          <a:bodyPr/>
          <a:lstStyle/>
          <a:p>
            <a:endParaRPr lang="en-US"/>
          </a:p>
        </p:txBody>
      </p:sp>
      <p:sp>
        <p:nvSpPr>
          <p:cNvPr id="28" name="Text 15">
            <a:extLst>
              <a:ext uri="{FF2B5EF4-FFF2-40B4-BE49-F238E27FC236}">
                <a16:creationId xmlns:a16="http://schemas.microsoft.com/office/drawing/2014/main" id="{7E6057DF-EA3F-039B-028B-45ECBFF83A13}"/>
              </a:ext>
            </a:extLst>
          </p:cNvPr>
          <p:cNvSpPr/>
          <p:nvPr/>
        </p:nvSpPr>
        <p:spPr>
          <a:xfrm>
            <a:off x="6035040" y="3838956"/>
            <a:ext cx="5349240" cy="256032"/>
          </a:xfrm>
          <a:prstGeom prst="rect">
            <a:avLst/>
          </a:prstGeom>
          <a:noFill/>
          <a:ln/>
        </p:spPr>
        <p:txBody>
          <a:bodyPr wrap="square" lIns="0" tIns="0" rIns="0" bIns="0" rtlCol="0" anchor="ctr"/>
          <a:lstStyle/>
          <a:p>
            <a:pPr marL="0" indent="0">
              <a:buNone/>
            </a:pPr>
            <a:r>
              <a:rPr lang="en-US" sz="2000" b="1" dirty="0">
                <a:solidFill>
                  <a:srgbClr val="FFFFFF"/>
                </a:solidFill>
                <a:latin typeface="Aptos Display" pitchFamily="34" charset="0"/>
                <a:ea typeface="Aptos Display" pitchFamily="34" charset="-122"/>
                <a:cs typeface="Aptos Display" pitchFamily="34" charset="-120"/>
              </a:rPr>
              <a:t>User Permissions + Read Only Security</a:t>
            </a:r>
            <a:endParaRPr lang="en-US" sz="2000" dirty="0"/>
          </a:p>
        </p:txBody>
      </p:sp>
      <p:sp>
        <p:nvSpPr>
          <p:cNvPr id="29" name="Text 16">
            <a:extLst>
              <a:ext uri="{FF2B5EF4-FFF2-40B4-BE49-F238E27FC236}">
                <a16:creationId xmlns:a16="http://schemas.microsoft.com/office/drawing/2014/main" id="{0EC41321-E92B-7D28-8FB3-08EB2958CF48}"/>
              </a:ext>
            </a:extLst>
          </p:cNvPr>
          <p:cNvSpPr/>
          <p:nvPr/>
        </p:nvSpPr>
        <p:spPr>
          <a:xfrm>
            <a:off x="6035040" y="4131564"/>
            <a:ext cx="5394960" cy="429768"/>
          </a:xfrm>
          <a:prstGeom prst="rect">
            <a:avLst/>
          </a:prstGeom>
          <a:noFill/>
          <a:ln/>
        </p:spPr>
        <p:txBody>
          <a:bodyPr wrap="square" lIns="0" tIns="0" rIns="0" bIns="0" rtlCol="0" anchor="ctr"/>
          <a:lstStyle/>
          <a:p>
            <a:pPr marL="0" indent="0">
              <a:buNone/>
            </a:pPr>
            <a:r>
              <a:rPr lang="en-US" sz="1350" dirty="0">
                <a:solidFill>
                  <a:srgbClr val="C7D3E0"/>
                </a:solidFill>
                <a:latin typeface="Aptos" pitchFamily="34" charset="0"/>
                <a:ea typeface="Aptos" pitchFamily="34" charset="-122"/>
                <a:cs typeface="Aptos" pitchFamily="34" charset="-120"/>
              </a:rPr>
              <a:t>OAuth allows for user permissioning via the datalake so nobody can see what they are not supposed to + additional sqlglot style guardrails</a:t>
            </a:r>
            <a:endParaRPr lang="en-US" sz="1350" dirty="0"/>
          </a:p>
        </p:txBody>
      </p:sp>
      <p:sp>
        <p:nvSpPr>
          <p:cNvPr id="30" name="Text 17">
            <a:extLst>
              <a:ext uri="{FF2B5EF4-FFF2-40B4-BE49-F238E27FC236}">
                <a16:creationId xmlns:a16="http://schemas.microsoft.com/office/drawing/2014/main" id="{C9C3B70B-02F7-11AC-6E65-33F795E4F317}"/>
              </a:ext>
            </a:extLst>
          </p:cNvPr>
          <p:cNvSpPr/>
          <p:nvPr/>
        </p:nvSpPr>
        <p:spPr>
          <a:xfrm>
            <a:off x="5376672" y="4908804"/>
            <a:ext cx="402336" cy="402336"/>
          </a:xfrm>
          <a:prstGeom prst="ellipse">
            <a:avLst/>
          </a:prstGeom>
          <a:solidFill>
            <a:srgbClr val="445874"/>
          </a:solidFill>
          <a:ln>
            <a:solidFill>
              <a:srgbClr val="445874">
                <a:alpha val="0"/>
              </a:srgbClr>
            </a:solid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4</a:t>
            </a:r>
            <a:endParaRPr lang="en-US" sz="1200" dirty="0"/>
          </a:p>
        </p:txBody>
      </p:sp>
      <p:sp>
        <p:nvSpPr>
          <p:cNvPr id="31" name="Text 18">
            <a:extLst>
              <a:ext uri="{FF2B5EF4-FFF2-40B4-BE49-F238E27FC236}">
                <a16:creationId xmlns:a16="http://schemas.microsoft.com/office/drawing/2014/main" id="{663C6F86-E3BC-2A72-5CCD-813F28942154}"/>
              </a:ext>
            </a:extLst>
          </p:cNvPr>
          <p:cNvSpPr/>
          <p:nvPr/>
        </p:nvSpPr>
        <p:spPr>
          <a:xfrm>
            <a:off x="6035040" y="4899660"/>
            <a:ext cx="5349240" cy="256032"/>
          </a:xfrm>
          <a:prstGeom prst="rect">
            <a:avLst/>
          </a:prstGeom>
          <a:noFill/>
          <a:ln/>
        </p:spPr>
        <p:txBody>
          <a:bodyPr wrap="square" lIns="0" tIns="0" rIns="0" bIns="0" rtlCol="0" anchor="ctr"/>
          <a:lstStyle/>
          <a:p>
            <a:pPr marL="0" indent="0">
              <a:buNone/>
            </a:pPr>
            <a:r>
              <a:rPr lang="en-US" sz="2000" b="1" dirty="0">
                <a:solidFill>
                  <a:srgbClr val="FFFFFF"/>
                </a:solidFill>
                <a:latin typeface="Aptos Display" pitchFamily="34" charset="0"/>
                <a:ea typeface="Aptos Display" pitchFamily="34" charset="-122"/>
                <a:cs typeface="Aptos Display" pitchFamily="34" charset="-120"/>
              </a:rPr>
              <a:t>Error Resistance</a:t>
            </a:r>
            <a:endParaRPr lang="en-US" sz="2000" dirty="0"/>
          </a:p>
        </p:txBody>
      </p:sp>
      <p:sp>
        <p:nvSpPr>
          <p:cNvPr id="32" name="Text 19">
            <a:extLst>
              <a:ext uri="{FF2B5EF4-FFF2-40B4-BE49-F238E27FC236}">
                <a16:creationId xmlns:a16="http://schemas.microsoft.com/office/drawing/2014/main" id="{F6E2AE92-4C11-F255-EBE7-C138E46392F5}"/>
              </a:ext>
            </a:extLst>
          </p:cNvPr>
          <p:cNvSpPr/>
          <p:nvPr/>
        </p:nvSpPr>
        <p:spPr>
          <a:xfrm>
            <a:off x="6035040" y="5192268"/>
            <a:ext cx="5394960" cy="429768"/>
          </a:xfrm>
          <a:prstGeom prst="rect">
            <a:avLst/>
          </a:prstGeom>
          <a:noFill/>
          <a:ln/>
        </p:spPr>
        <p:txBody>
          <a:bodyPr wrap="square" lIns="0" tIns="0" rIns="0" bIns="0" rtlCol="0" anchor="ctr"/>
          <a:lstStyle/>
          <a:p>
            <a:pPr marL="0" indent="0">
              <a:buNone/>
            </a:pPr>
            <a:r>
              <a:rPr lang="en-US" sz="1350" dirty="0">
                <a:solidFill>
                  <a:srgbClr val="C7D3E0"/>
                </a:solidFill>
                <a:latin typeface="Aptos" pitchFamily="34" charset="0"/>
                <a:ea typeface="Aptos" pitchFamily="34" charset="-122"/>
                <a:cs typeface="Aptos" pitchFamily="34" charset="-120"/>
              </a:rPr>
              <a:t>Errors from the datalake come back to the agent with suggestions on how to resolve them</a:t>
            </a:r>
            <a:endParaRPr lang="en-US" sz="1350" dirty="0"/>
          </a:p>
        </p:txBody>
      </p:sp>
      <p:pic>
        <p:nvPicPr>
          <p:cNvPr id="34" name="Picture 33">
            <a:extLst>
              <a:ext uri="{FF2B5EF4-FFF2-40B4-BE49-F238E27FC236}">
                <a16:creationId xmlns:a16="http://schemas.microsoft.com/office/drawing/2014/main" id="{425357F3-96E6-FEB2-30E8-D303E2CD414E}"/>
              </a:ext>
            </a:extLst>
          </p:cNvPr>
          <p:cNvPicPr>
            <a:picLocks noChangeAspect="1"/>
          </p:cNvPicPr>
          <p:nvPr/>
        </p:nvPicPr>
        <p:blipFill>
          <a:blip r:embed="rId3"/>
          <a:srcRect l="23751" r="21824" b="7880"/>
          <a:stretch>
            <a:fillRect/>
          </a:stretch>
        </p:blipFill>
        <p:spPr>
          <a:xfrm>
            <a:off x="514419" y="1717548"/>
            <a:ext cx="4606221" cy="3818944"/>
          </a:xfrm>
          <a:prstGeom prst="rect">
            <a:avLst/>
          </a:prstGeom>
        </p:spPr>
      </p:pic>
    </p:spTree>
    <p:extLst>
      <p:ext uri="{BB962C8B-B14F-4D97-AF65-F5344CB8AC3E}">
        <p14:creationId xmlns:p14="http://schemas.microsoft.com/office/powerpoint/2010/main" val="2355508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4" grpId="0" animBg="1"/>
      <p:bldP spid="25" grpId="0" animBg="1"/>
      <p:bldP spid="28" grpId="0" animBg="1"/>
      <p:bldP spid="29" grpId="0" animBg="1"/>
      <p:bldP spid="31" grpId="0" animBg="1"/>
      <p:bldP spid="3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1C40"/>
        </a:solidFill>
        <a:effectLst/>
      </p:bgPr>
    </p:bg>
    <p:spTree>
      <p:nvGrpSpPr>
        <p:cNvPr id="1" name="">
          <a:extLst>
            <a:ext uri="{FF2B5EF4-FFF2-40B4-BE49-F238E27FC236}">
              <a16:creationId xmlns:a16="http://schemas.microsoft.com/office/drawing/2014/main" id="{B2E46FBD-36F6-9C6E-0991-D39A5A9EEF3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A88333B-D555-610E-6C83-6F856C2A59F6}"/>
              </a:ext>
            </a:extLst>
          </p:cNvPr>
          <p:cNvSpPr/>
          <p:nvPr/>
        </p:nvSpPr>
        <p:spPr>
          <a:xfrm>
            <a:off x="658368" y="438912"/>
            <a:ext cx="512064" cy="0"/>
          </a:xfrm>
          <a:prstGeom prst="line">
            <a:avLst/>
          </a:prstGeom>
          <a:noFill/>
          <a:ln w="50800">
            <a:solidFill>
              <a:schemeClr val="accent1">
                <a:lumMod val="20000"/>
                <a:lumOff val="80000"/>
              </a:schemeClr>
            </a:solidFill>
            <a:prstDash val="solid"/>
          </a:ln>
        </p:spPr>
        <p:txBody>
          <a:bodyPr/>
          <a:lstStyle/>
          <a:p>
            <a:endParaRPr lang="en-US"/>
          </a:p>
        </p:txBody>
      </p:sp>
      <p:sp>
        <p:nvSpPr>
          <p:cNvPr id="3" name="Text 1">
            <a:extLst>
              <a:ext uri="{FF2B5EF4-FFF2-40B4-BE49-F238E27FC236}">
                <a16:creationId xmlns:a16="http://schemas.microsoft.com/office/drawing/2014/main" id="{9728D590-EEC5-18C6-4447-155878ED8CD2}"/>
              </a:ext>
            </a:extLst>
          </p:cNvPr>
          <p:cNvSpPr/>
          <p:nvPr/>
        </p:nvSpPr>
        <p:spPr>
          <a:xfrm>
            <a:off x="658368" y="603504"/>
            <a:ext cx="8915400" cy="457200"/>
          </a:xfrm>
          <a:prstGeom prst="rect">
            <a:avLst/>
          </a:prstGeom>
          <a:noFill/>
          <a:ln/>
        </p:spPr>
        <p:txBody>
          <a:bodyPr wrap="square" lIns="0" tIns="0" rIns="0" bIns="0" rtlCol="0" anchor="ctr"/>
          <a:lstStyle/>
          <a:p>
            <a:pPr marL="0" indent="0">
              <a:buNone/>
            </a:pPr>
            <a:r>
              <a:rPr lang="en-US" sz="3100" b="1" dirty="0">
                <a:solidFill>
                  <a:srgbClr val="FFFFFF"/>
                </a:solidFill>
                <a:latin typeface="Aptos Display" pitchFamily="34" charset="0"/>
                <a:ea typeface="Aptos Display" pitchFamily="34" charset="-122"/>
                <a:cs typeface="Aptos Display" pitchFamily="34" charset="-120"/>
              </a:rPr>
              <a:t>Workflow Diagram</a:t>
            </a:r>
            <a:endParaRPr lang="en-US" sz="3100" dirty="0"/>
          </a:p>
        </p:txBody>
      </p:sp>
      <p:sp>
        <p:nvSpPr>
          <p:cNvPr id="5" name="Text 3">
            <a:extLst>
              <a:ext uri="{FF2B5EF4-FFF2-40B4-BE49-F238E27FC236}">
                <a16:creationId xmlns:a16="http://schemas.microsoft.com/office/drawing/2014/main" id="{EFC1E615-A357-37B0-BAEA-F9F6E2948C1B}"/>
              </a:ext>
            </a:extLst>
          </p:cNvPr>
          <p:cNvSpPr/>
          <p:nvPr/>
        </p:nvSpPr>
        <p:spPr>
          <a:xfrm>
            <a:off x="10241280" y="603504"/>
            <a:ext cx="1188720" cy="329184"/>
          </a:xfrm>
          <a:prstGeom prst="roundRect">
            <a:avLst>
              <a:gd name="adj" fmla="val 22222"/>
            </a:avLst>
          </a:prstGeom>
          <a:solidFill>
            <a:schemeClr val="accent1">
              <a:lumMod val="40000"/>
              <a:lumOff val="60000"/>
            </a:schemeClr>
          </a:solidFill>
          <a:ln>
            <a:solidFill>
              <a:srgbClr val="C40C3C">
                <a:alpha val="0"/>
              </a:srgbClr>
            </a:solidFill>
          </a:ln>
        </p:spPr>
        <p:txBody>
          <a:bodyPr wrap="square" lIns="0" tIns="0" rIns="0" bIns="0" rtlCol="0" anchor="ctr"/>
          <a:lstStyle/>
          <a:p>
            <a:pPr marL="0" indent="0" algn="ctr">
              <a:buNone/>
            </a:pPr>
            <a:r>
              <a:rPr lang="en-US" sz="1050" b="1" kern="0" spc="100" dirty="0">
                <a:solidFill>
                  <a:srgbClr val="FFFFFF"/>
                </a:solidFill>
                <a:latin typeface="Aptos" pitchFamily="34" charset="0"/>
                <a:ea typeface="Aptos" pitchFamily="34" charset="-122"/>
                <a:cs typeface="Aptos" pitchFamily="34" charset="-120"/>
              </a:rPr>
              <a:t>DEMO</a:t>
            </a:r>
            <a:endParaRPr lang="en-US" sz="1050" dirty="0"/>
          </a:p>
        </p:txBody>
      </p:sp>
      <p:pic>
        <p:nvPicPr>
          <p:cNvPr id="6" name="Picture 5">
            <a:extLst>
              <a:ext uri="{FF2B5EF4-FFF2-40B4-BE49-F238E27FC236}">
                <a16:creationId xmlns:a16="http://schemas.microsoft.com/office/drawing/2014/main" id="{F85CF01D-EFD0-6413-5F1C-9586510F7424}"/>
              </a:ext>
            </a:extLst>
          </p:cNvPr>
          <p:cNvPicPr>
            <a:picLocks noChangeAspect="1"/>
          </p:cNvPicPr>
          <p:nvPr/>
        </p:nvPicPr>
        <p:blipFill>
          <a:blip r:embed="rId3"/>
          <a:srcRect b="7560"/>
          <a:stretch>
            <a:fillRect/>
          </a:stretch>
        </p:blipFill>
        <p:spPr>
          <a:xfrm>
            <a:off x="2023326" y="1132331"/>
            <a:ext cx="8145347" cy="5458969"/>
          </a:xfrm>
          <a:prstGeom prst="rect">
            <a:avLst/>
          </a:prstGeom>
        </p:spPr>
      </p:pic>
    </p:spTree>
    <p:extLst>
      <p:ext uri="{BB962C8B-B14F-4D97-AF65-F5344CB8AC3E}">
        <p14:creationId xmlns:p14="http://schemas.microsoft.com/office/powerpoint/2010/main" val="10580491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1C40"/>
        </a:solidFill>
        <a:effectLst/>
      </p:bgPr>
    </p:bg>
    <p:spTree>
      <p:nvGrpSpPr>
        <p:cNvPr id="1" name="">
          <a:extLst>
            <a:ext uri="{FF2B5EF4-FFF2-40B4-BE49-F238E27FC236}">
              <a16:creationId xmlns:a16="http://schemas.microsoft.com/office/drawing/2014/main" id="{8DCF5406-8E06-FABA-2AC9-DF86445C5F8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4E831FE-6AF3-46C0-A773-FDC014C39F68}"/>
              </a:ext>
            </a:extLst>
          </p:cNvPr>
          <p:cNvSpPr/>
          <p:nvPr/>
        </p:nvSpPr>
        <p:spPr>
          <a:xfrm>
            <a:off x="658368" y="438912"/>
            <a:ext cx="512064" cy="0"/>
          </a:xfrm>
          <a:prstGeom prst="line">
            <a:avLst/>
          </a:prstGeom>
          <a:noFill/>
          <a:ln w="50800">
            <a:solidFill>
              <a:srgbClr val="C40C3C"/>
            </a:solidFill>
            <a:prstDash val="solid"/>
          </a:ln>
        </p:spPr>
        <p:txBody>
          <a:bodyPr/>
          <a:lstStyle/>
          <a:p>
            <a:endParaRPr lang="en-US"/>
          </a:p>
        </p:txBody>
      </p:sp>
      <p:sp>
        <p:nvSpPr>
          <p:cNvPr id="3" name="Text 1">
            <a:extLst>
              <a:ext uri="{FF2B5EF4-FFF2-40B4-BE49-F238E27FC236}">
                <a16:creationId xmlns:a16="http://schemas.microsoft.com/office/drawing/2014/main" id="{CE9DD8D8-0F0B-1D9D-6CA0-8621651D3A64}"/>
              </a:ext>
            </a:extLst>
          </p:cNvPr>
          <p:cNvSpPr/>
          <p:nvPr/>
        </p:nvSpPr>
        <p:spPr>
          <a:xfrm>
            <a:off x="658368" y="603504"/>
            <a:ext cx="8915400" cy="457200"/>
          </a:xfrm>
          <a:prstGeom prst="rect">
            <a:avLst/>
          </a:prstGeom>
          <a:noFill/>
          <a:ln/>
        </p:spPr>
        <p:txBody>
          <a:bodyPr wrap="square" lIns="0" tIns="0" rIns="0" bIns="0" rtlCol="0" anchor="ctr"/>
          <a:lstStyle/>
          <a:p>
            <a:r>
              <a:rPr lang="en-US" sz="3100" b="1" dirty="0">
                <a:solidFill>
                  <a:srgbClr val="FFFFFF"/>
                </a:solidFill>
                <a:latin typeface="Aptos Display"/>
              </a:rPr>
              <a:t>Resources to Build Your Own</a:t>
            </a:r>
            <a:endParaRPr lang="en-US" dirty="0"/>
          </a:p>
        </p:txBody>
      </p:sp>
      <p:sp>
        <p:nvSpPr>
          <p:cNvPr id="27" name="Text 23">
            <a:extLst>
              <a:ext uri="{FF2B5EF4-FFF2-40B4-BE49-F238E27FC236}">
                <a16:creationId xmlns:a16="http://schemas.microsoft.com/office/drawing/2014/main" id="{90449D9C-15B1-70AE-27D6-28331C774A7E}"/>
              </a:ext>
            </a:extLst>
          </p:cNvPr>
          <p:cNvSpPr/>
          <p:nvPr/>
        </p:nvSpPr>
        <p:spPr>
          <a:xfrm>
            <a:off x="11393424" y="6409944"/>
            <a:ext cx="310896" cy="164592"/>
          </a:xfrm>
          <a:prstGeom prst="rect">
            <a:avLst/>
          </a:prstGeom>
          <a:noFill/>
          <a:ln/>
        </p:spPr>
        <p:txBody>
          <a:bodyPr wrap="square" lIns="0" tIns="0" rIns="0" bIns="0" rtlCol="0" anchor="ctr"/>
          <a:lstStyle/>
          <a:p>
            <a:pPr marL="0" indent="0" algn="r">
              <a:buNone/>
            </a:pPr>
            <a:r>
              <a:rPr lang="en-US" sz="900" dirty="0">
                <a:solidFill>
                  <a:srgbClr val="AFC0D2"/>
                </a:solidFill>
                <a:latin typeface="Aptos" pitchFamily="34" charset="0"/>
                <a:ea typeface="Aptos" pitchFamily="34" charset="-122"/>
                <a:cs typeface="Aptos" pitchFamily="34" charset="-120"/>
              </a:rPr>
              <a:t>4</a:t>
            </a:r>
            <a:endParaRPr lang="en-US" sz="900" dirty="0"/>
          </a:p>
        </p:txBody>
      </p:sp>
      <p:sp>
        <p:nvSpPr>
          <p:cNvPr id="7" name="Text 1">
            <a:extLst>
              <a:ext uri="{FF2B5EF4-FFF2-40B4-BE49-F238E27FC236}">
                <a16:creationId xmlns:a16="http://schemas.microsoft.com/office/drawing/2014/main" id="{3D34EA67-080C-01F1-D52A-54F3E979A2B3}"/>
              </a:ext>
            </a:extLst>
          </p:cNvPr>
          <p:cNvSpPr/>
          <p:nvPr/>
        </p:nvSpPr>
        <p:spPr>
          <a:xfrm>
            <a:off x="658367" y="1257609"/>
            <a:ext cx="8915400" cy="4921517"/>
          </a:xfrm>
          <a:prstGeom prst="rect">
            <a:avLst/>
          </a:prstGeom>
          <a:noFill/>
          <a:ln/>
        </p:spPr>
        <p:txBody>
          <a:bodyPr wrap="square" lIns="0" tIns="0" rIns="0" bIns="0" rtlCol="0" anchor="ctr"/>
          <a:lstStyle/>
          <a:p>
            <a:r>
              <a:rPr lang="en-US" sz="2000" b="1" u="sng" dirty="0">
                <a:solidFill>
                  <a:srgbClr val="FFFFFF"/>
                </a:solidFill>
                <a:latin typeface="Aptos Display"/>
              </a:rPr>
              <a:t>Voice-Enabled Applications</a:t>
            </a:r>
          </a:p>
          <a:p>
            <a:pPr marL="914400" lvl="1" indent="-457200">
              <a:buFont typeface="Arial"/>
              <a:buChar char="•"/>
            </a:pPr>
            <a:r>
              <a:rPr lang="en-US" sz="2000" b="1" dirty="0" err="1">
                <a:solidFill>
                  <a:srgbClr val="FFFFFF"/>
                </a:solidFill>
                <a:latin typeface="Aptos Display"/>
              </a:rPr>
              <a:t>Shinyrealtime</a:t>
            </a:r>
            <a:endParaRPr lang="en-US" sz="2000" b="1" dirty="0">
              <a:solidFill>
                <a:srgbClr val="FFFFFF"/>
              </a:solidFill>
              <a:latin typeface="Aptos Display"/>
            </a:endParaRPr>
          </a:p>
          <a:p>
            <a:pPr marL="1371600" lvl="2" indent="-457200">
              <a:buFont typeface="Courier New"/>
              <a:buChar char="o"/>
            </a:pPr>
            <a:r>
              <a:rPr lang="en-US" sz="2000" dirty="0">
                <a:solidFill>
                  <a:srgbClr val="FFFFFF"/>
                </a:solidFill>
                <a:ea typeface="+mn-lt"/>
                <a:cs typeface="+mn-lt"/>
              </a:rPr>
              <a:t>https://github.com/posit-dev/shinyrealtime</a:t>
            </a:r>
            <a:endParaRPr lang="en-US" sz="2000" b="1" dirty="0">
              <a:solidFill>
                <a:srgbClr val="FFFFFF"/>
              </a:solidFill>
              <a:latin typeface="Aptos Display"/>
            </a:endParaRPr>
          </a:p>
          <a:p>
            <a:pPr marL="914400" lvl="1" indent="-457200">
              <a:buFont typeface="Arial"/>
              <a:buChar char="•"/>
            </a:pPr>
            <a:r>
              <a:rPr lang="en-US" sz="2000" b="1" dirty="0" err="1">
                <a:solidFill>
                  <a:srgbClr val="FFFFFF"/>
                </a:solidFill>
                <a:latin typeface="Aptos Display"/>
              </a:rPr>
              <a:t>Deepgram</a:t>
            </a:r>
          </a:p>
          <a:p>
            <a:pPr marL="1371600" lvl="2" indent="-457200">
              <a:buFont typeface="Courier New"/>
              <a:buChar char="o"/>
            </a:pPr>
            <a:r>
              <a:rPr lang="en-US" sz="2000" dirty="0">
                <a:solidFill>
                  <a:srgbClr val="FFFFFF"/>
                </a:solidFill>
                <a:ea typeface="+mn-lt"/>
                <a:cs typeface="+mn-lt"/>
              </a:rPr>
              <a:t>https://deepgram.com</a:t>
            </a:r>
          </a:p>
          <a:p>
            <a:pPr marL="1371600" lvl="2" indent="-457200">
              <a:buFont typeface="Courier New"/>
              <a:buChar char="o"/>
            </a:pPr>
            <a:r>
              <a:rPr lang="en-US" sz="2000" dirty="0">
                <a:solidFill>
                  <a:srgbClr val="FFFFFF"/>
                </a:solidFill>
                <a:ea typeface="+mn-lt"/>
                <a:cs typeface="+mn-lt"/>
              </a:rPr>
              <a:t>https://github.com/deepgram/deepgram-python-sdk</a:t>
            </a:r>
            <a:endParaRPr lang="en-US" sz="2000" dirty="0">
              <a:solidFill>
                <a:srgbClr val="FFFFFF"/>
              </a:solidFill>
              <a:latin typeface="Aptos"/>
              <a:ea typeface="+mn-lt"/>
              <a:cs typeface="+mn-lt"/>
            </a:endParaRPr>
          </a:p>
          <a:p>
            <a:r>
              <a:rPr lang="en-US" sz="2000" b="1" u="sng" dirty="0">
                <a:solidFill>
                  <a:srgbClr val="FFFFFF"/>
                </a:solidFill>
                <a:ea typeface="+mn-lt"/>
                <a:cs typeface="+mn-lt"/>
              </a:rPr>
              <a:t>Talk To Your Data Applications</a:t>
            </a:r>
          </a:p>
          <a:p>
            <a:pPr marL="914400" lvl="1" indent="-457200">
              <a:buFont typeface="Arial"/>
              <a:buChar char="•"/>
            </a:pPr>
            <a:r>
              <a:rPr lang="en-US" sz="2000" b="1" dirty="0">
                <a:solidFill>
                  <a:srgbClr val="FFFFFF"/>
                </a:solidFill>
                <a:latin typeface="Aptos Display"/>
              </a:rPr>
              <a:t>commons</a:t>
            </a:r>
          </a:p>
          <a:p>
            <a:pPr marL="1371600" lvl="2" indent="-457200">
              <a:buFont typeface="Courier New"/>
              <a:buChar char="o"/>
            </a:pPr>
            <a:r>
              <a:rPr lang="en-US" sz="2000" dirty="0">
                <a:solidFill>
                  <a:srgbClr val="FFFFFF"/>
                </a:solidFill>
                <a:ea typeface="+mn-lt"/>
                <a:cs typeface="+mn-lt"/>
              </a:rPr>
              <a:t>https://opensource.posit.co/blog/2026-09-15_commons-0-1-0/</a:t>
            </a:r>
          </a:p>
          <a:p>
            <a:pPr marL="1371600" lvl="2" indent="-457200">
              <a:buFont typeface="Courier New"/>
              <a:buChar char="o"/>
            </a:pPr>
            <a:r>
              <a:rPr lang="en-US" sz="2000" dirty="0">
                <a:solidFill>
                  <a:srgbClr val="FFFFFF"/>
                </a:solidFill>
                <a:ea typeface="+mn-lt"/>
                <a:cs typeface="+mn-lt"/>
              </a:rPr>
              <a:t>https://posit-dev.github.io/commons/</a:t>
            </a:r>
          </a:p>
          <a:p>
            <a:r>
              <a:rPr lang="en-US" sz="2000" b="1" u="sng" dirty="0">
                <a:solidFill>
                  <a:srgbClr val="FFFFFF"/>
                </a:solidFill>
                <a:ea typeface="+mn-lt"/>
                <a:cs typeface="+mn-lt"/>
              </a:rPr>
              <a:t>Other Cool Things I Saw At Conf That May (or May Not) Be Relevant</a:t>
            </a:r>
          </a:p>
          <a:p>
            <a:pPr marL="914400" lvl="1" indent="-457200">
              <a:buFont typeface="Arial"/>
              <a:buChar char="•"/>
            </a:pPr>
            <a:r>
              <a:rPr lang="en-US" sz="2000" b="1" dirty="0" err="1">
                <a:solidFill>
                  <a:srgbClr val="FFFFFF"/>
                </a:solidFill>
                <a:latin typeface="Aptos Display"/>
              </a:rPr>
              <a:t>shinyreact</a:t>
            </a:r>
            <a:endParaRPr lang="en-US" sz="2000" b="1" dirty="0">
              <a:solidFill>
                <a:srgbClr val="FFFFFF"/>
              </a:solidFill>
              <a:latin typeface="Aptos Display"/>
            </a:endParaRPr>
          </a:p>
          <a:p>
            <a:pPr marL="1371600" lvl="2" indent="-457200">
              <a:buFont typeface="Courier New"/>
              <a:buChar char="o"/>
            </a:pPr>
            <a:r>
              <a:rPr lang="en-US" sz="2000" dirty="0">
                <a:solidFill>
                  <a:srgbClr val="FFFFFF"/>
                </a:solidFill>
                <a:ea typeface="+mn-lt"/>
                <a:cs typeface="+mn-lt"/>
              </a:rPr>
              <a:t>https://github.com/posit-dev/shinyreact</a:t>
            </a:r>
          </a:p>
          <a:p>
            <a:pPr marL="914400" lvl="1" indent="-457200">
              <a:buFont typeface="Courier New"/>
              <a:buChar char="o"/>
            </a:pPr>
            <a:r>
              <a:rPr lang="en-US" sz="2000" b="1" dirty="0">
                <a:solidFill>
                  <a:srgbClr val="FFFFFF"/>
                </a:solidFill>
                <a:latin typeface="Aptos Display"/>
                <a:ea typeface="+mn-lt"/>
                <a:cs typeface="+mn-lt"/>
              </a:rPr>
              <a:t>data-</a:t>
            </a:r>
            <a:r>
              <a:rPr lang="en-US" sz="2000" b="1" dirty="0" err="1">
                <a:solidFill>
                  <a:srgbClr val="FFFFFF"/>
                </a:solidFill>
                <a:latin typeface="Aptos Display"/>
                <a:ea typeface="+mn-lt"/>
                <a:cs typeface="+mn-lt"/>
              </a:rPr>
              <a:t>dict</a:t>
            </a:r>
            <a:endParaRPr lang="en-US" sz="2000" b="1" dirty="0">
              <a:solidFill>
                <a:srgbClr val="FFFFFF"/>
              </a:solidFill>
              <a:latin typeface="Aptos Display"/>
              <a:ea typeface="+mn-lt"/>
              <a:cs typeface="+mn-lt"/>
            </a:endParaRPr>
          </a:p>
          <a:p>
            <a:pPr marL="1371600" lvl="2" indent="-457200">
              <a:buFont typeface="Courier New"/>
              <a:buChar char="o"/>
            </a:pPr>
            <a:r>
              <a:rPr lang="en-US" sz="2000" dirty="0">
                <a:solidFill>
                  <a:srgbClr val="FFFFFF"/>
                </a:solidFill>
                <a:latin typeface="Aptos Display"/>
                <a:ea typeface="+mn-lt"/>
                <a:cs typeface="+mn-lt"/>
              </a:rPr>
              <a:t>https://data-dict.tidyverse.org/</a:t>
            </a:r>
          </a:p>
          <a:p>
            <a:pPr marL="914400" lvl="1" indent="-457200">
              <a:buFont typeface="Courier New"/>
              <a:buChar char="o"/>
            </a:pPr>
            <a:endParaRPr lang="en-US" sz="2000" dirty="0">
              <a:solidFill>
                <a:srgbClr val="FFFFFF"/>
              </a:solidFill>
              <a:ea typeface="+mn-lt"/>
              <a:cs typeface="+mn-lt"/>
            </a:endParaRPr>
          </a:p>
        </p:txBody>
      </p:sp>
    </p:spTree>
    <p:extLst>
      <p:ext uri="{BB962C8B-B14F-4D97-AF65-F5344CB8AC3E}">
        <p14:creationId xmlns:p14="http://schemas.microsoft.com/office/powerpoint/2010/main" val="24293651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5">
    <p:bg>
      <p:bgPr>
        <a:solidFill>
          <a:srgbClr val="001C40"/>
        </a:solidFill>
        <a:effectLst/>
      </p:bgPr>
    </p:bg>
    <p:spTree>
      <p:nvGrpSpPr>
        <p:cNvPr id="1" name=""/>
        <p:cNvGrpSpPr/>
        <p:nvPr/>
      </p:nvGrpSpPr>
      <p:grpSpPr>
        <a:xfrm>
          <a:off x="0" y="0"/>
          <a:ext cx="0" cy="0"/>
          <a:chOff x="0" y="0"/>
          <a:chExt cx="0" cy="0"/>
        </a:xfrm>
      </p:grpSpPr>
      <p:sp>
        <p:nvSpPr>
          <p:cNvPr id="2" name="Text 0"/>
          <p:cNvSpPr/>
          <p:nvPr/>
        </p:nvSpPr>
        <p:spPr>
          <a:xfrm>
            <a:off x="731520" y="658368"/>
            <a:ext cx="2743200" cy="237744"/>
          </a:xfrm>
          <a:prstGeom prst="rect">
            <a:avLst/>
          </a:prstGeom>
          <a:noFill/>
          <a:ln/>
        </p:spPr>
        <p:txBody>
          <a:bodyPr wrap="square" lIns="0" tIns="0" rIns="0" bIns="0" rtlCol="0" anchor="ctr"/>
          <a:lstStyle/>
          <a:p>
            <a:pPr marL="0" indent="0">
              <a:buNone/>
            </a:pPr>
            <a:r>
              <a:rPr lang="en-US" sz="1070" b="1" kern="0" spc="145" dirty="0">
                <a:solidFill>
                  <a:srgbClr val="DC7890"/>
                </a:solidFill>
                <a:latin typeface="Aptos" pitchFamily="34" charset="0"/>
                <a:ea typeface="Aptos" pitchFamily="34" charset="-122"/>
                <a:cs typeface="Aptos" pitchFamily="34" charset="-120"/>
              </a:rPr>
              <a:t>VERA NOTES</a:t>
            </a:r>
            <a:endParaRPr lang="en-US" sz="1070" dirty="0"/>
          </a:p>
        </p:txBody>
      </p:sp>
      <p:sp>
        <p:nvSpPr>
          <p:cNvPr id="3" name="Shape 1"/>
          <p:cNvSpPr/>
          <p:nvPr/>
        </p:nvSpPr>
        <p:spPr>
          <a:xfrm>
            <a:off x="731520" y="1033272"/>
            <a:ext cx="676656" cy="0"/>
          </a:xfrm>
          <a:prstGeom prst="line">
            <a:avLst/>
          </a:prstGeom>
          <a:noFill/>
          <a:ln w="63500">
            <a:solidFill>
              <a:srgbClr val="C40C3C"/>
            </a:solidFill>
            <a:prstDash val="solid"/>
          </a:ln>
        </p:spPr>
        <p:txBody>
          <a:bodyPr/>
          <a:lstStyle/>
          <a:p>
            <a:endParaRPr lang="en-US"/>
          </a:p>
        </p:txBody>
      </p:sp>
      <p:sp>
        <p:nvSpPr>
          <p:cNvPr id="6" name="Shape 4"/>
          <p:cNvSpPr/>
          <p:nvPr/>
        </p:nvSpPr>
        <p:spPr>
          <a:xfrm>
            <a:off x="5570017" y="2091495"/>
            <a:ext cx="2750248" cy="2606040"/>
          </a:xfrm>
          <a:prstGeom prst="roundRect">
            <a:avLst>
              <a:gd name="adj" fmla="val 5797"/>
            </a:avLst>
          </a:prstGeom>
          <a:solidFill>
            <a:srgbClr val="0B2D52"/>
          </a:solidFill>
          <a:ln w="12700">
            <a:solidFill>
              <a:srgbClr val="315678"/>
            </a:solidFill>
            <a:prstDash val="solid"/>
          </a:ln>
        </p:spPr>
        <p:txBody>
          <a:bodyPr/>
          <a:lstStyle/>
          <a:p>
            <a:endParaRPr lang="en-US"/>
          </a:p>
        </p:txBody>
      </p:sp>
      <p:sp>
        <p:nvSpPr>
          <p:cNvPr id="10" name="Text 7"/>
          <p:cNvSpPr/>
          <p:nvPr/>
        </p:nvSpPr>
        <p:spPr>
          <a:xfrm>
            <a:off x="731520" y="5230368"/>
            <a:ext cx="2377440" cy="384048"/>
          </a:xfrm>
          <a:prstGeom prst="rect">
            <a:avLst/>
          </a:prstGeom>
          <a:noFill/>
          <a:ln/>
        </p:spPr>
        <p:txBody>
          <a:bodyPr wrap="square" lIns="0" tIns="0" rIns="0" bIns="0"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Thank you</a:t>
            </a:r>
            <a:endParaRPr lang="en-US" sz="2400" dirty="0"/>
          </a:p>
        </p:txBody>
      </p:sp>
      <p:sp>
        <p:nvSpPr>
          <p:cNvPr id="11" name="Text 8"/>
          <p:cNvSpPr/>
          <p:nvPr/>
        </p:nvSpPr>
        <p:spPr>
          <a:xfrm>
            <a:off x="749808" y="5678424"/>
            <a:ext cx="6858000" cy="274320"/>
          </a:xfrm>
          <a:prstGeom prst="rect">
            <a:avLst/>
          </a:prstGeom>
          <a:noFill/>
          <a:ln/>
        </p:spPr>
        <p:txBody>
          <a:bodyPr wrap="square" lIns="0" tIns="0" rIns="0" bIns="0" rtlCol="0" anchor="ctr"/>
          <a:lstStyle/>
          <a:p>
            <a:pPr marL="0" indent="0">
              <a:buNone/>
            </a:pPr>
            <a:r>
              <a:rPr lang="en-US" sz="1280" dirty="0">
                <a:solidFill>
                  <a:srgbClr val="AFC0D1"/>
                </a:solidFill>
                <a:latin typeface="Aptos" pitchFamily="34" charset="0"/>
                <a:ea typeface="Aptos" pitchFamily="34" charset="-122"/>
                <a:cs typeface="Aptos" pitchFamily="34" charset="-120"/>
              </a:rPr>
              <a:t>Lucas Da Silva · Data Analyst, Data Product Team · Suffolk Construction</a:t>
            </a:r>
            <a:endParaRPr lang="en-US" sz="1280" dirty="0"/>
          </a:p>
        </p:txBody>
      </p:sp>
      <p:sp>
        <p:nvSpPr>
          <p:cNvPr id="12" name="Text 9"/>
          <p:cNvSpPr/>
          <p:nvPr/>
        </p:nvSpPr>
        <p:spPr>
          <a:xfrm>
            <a:off x="9198864" y="5669280"/>
            <a:ext cx="1755648" cy="365760"/>
          </a:xfrm>
          <a:prstGeom prst="roundRect">
            <a:avLst>
              <a:gd name="adj" fmla="val 20000"/>
            </a:avLst>
          </a:prstGeom>
          <a:solidFill>
            <a:srgbClr val="C40C3C"/>
          </a:solidFill>
          <a:ln>
            <a:solidFill>
              <a:srgbClr val="C40C3C">
                <a:alpha val="0"/>
              </a:srgbClr>
            </a:solidFill>
          </a:ln>
        </p:spPr>
        <p:txBody>
          <a:bodyPr wrap="square" lIns="0" tIns="0" rIns="0" bIns="0" rtlCol="0" anchor="ctr"/>
          <a:lstStyle/>
          <a:p>
            <a:pPr marL="0" indent="0" algn="ctr">
              <a:buNone/>
            </a:pPr>
            <a:r>
              <a:rPr lang="en-US" sz="1120" b="1" kern="0" spc="90" dirty="0">
                <a:solidFill>
                  <a:srgbClr val="FFFFFF"/>
                </a:solidFill>
                <a:latin typeface="Aptos" pitchFamily="34" charset="0"/>
                <a:ea typeface="Aptos" pitchFamily="34" charset="-122"/>
                <a:cs typeface="Aptos" pitchFamily="34" charset="-120"/>
              </a:rPr>
              <a:t>QUESTIONS?</a:t>
            </a:r>
            <a:endParaRPr lang="en-US" sz="1120" dirty="0"/>
          </a:p>
        </p:txBody>
      </p:sp>
      <p:sp>
        <p:nvSpPr>
          <p:cNvPr id="15" name="Text 11"/>
          <p:cNvSpPr/>
          <p:nvPr/>
        </p:nvSpPr>
        <p:spPr>
          <a:xfrm>
            <a:off x="11393424" y="6409944"/>
            <a:ext cx="310896" cy="164592"/>
          </a:xfrm>
          <a:prstGeom prst="rect">
            <a:avLst/>
          </a:prstGeom>
          <a:noFill/>
          <a:ln/>
        </p:spPr>
        <p:txBody>
          <a:bodyPr wrap="square" lIns="0" tIns="0" rIns="0" bIns="0" rtlCol="0" anchor="ctr"/>
          <a:lstStyle/>
          <a:p>
            <a:pPr marL="0" indent="0" algn="r">
              <a:buNone/>
            </a:pPr>
            <a:r>
              <a:rPr lang="en-US" sz="900" dirty="0">
                <a:solidFill>
                  <a:srgbClr val="AFC0D2"/>
                </a:solidFill>
                <a:latin typeface="Aptos" pitchFamily="34" charset="0"/>
                <a:ea typeface="Aptos" pitchFamily="34" charset="-122"/>
                <a:cs typeface="Aptos" pitchFamily="34" charset="-120"/>
              </a:rPr>
              <a:t>5</a:t>
            </a:r>
            <a:endParaRPr lang="en-US" sz="900" dirty="0"/>
          </a:p>
        </p:txBody>
      </p:sp>
      <p:sp>
        <p:nvSpPr>
          <p:cNvPr id="18" name="Text 2">
            <a:extLst>
              <a:ext uri="{FF2B5EF4-FFF2-40B4-BE49-F238E27FC236}">
                <a16:creationId xmlns:a16="http://schemas.microsoft.com/office/drawing/2014/main" id="{E2461217-263F-83F5-A9FB-0930B2167F36}"/>
              </a:ext>
            </a:extLst>
          </p:cNvPr>
          <p:cNvSpPr/>
          <p:nvPr/>
        </p:nvSpPr>
        <p:spPr>
          <a:xfrm>
            <a:off x="2771791" y="2375980"/>
            <a:ext cx="7790688" cy="2103120"/>
          </a:xfrm>
          <a:prstGeom prst="rect">
            <a:avLst/>
          </a:prstGeom>
          <a:noFill/>
          <a:ln/>
        </p:spPr>
        <p:txBody>
          <a:bodyPr wrap="square" lIns="0" tIns="0" rIns="0" bIns="0" rtlCol="0" anchor="ctr"/>
          <a:lstStyle/>
          <a:p>
            <a:pPr marL="0" indent="0">
              <a:buNone/>
            </a:pPr>
            <a:r>
              <a:rPr lang="en-US" sz="2800" b="1" dirty="0">
                <a:solidFill>
                  <a:srgbClr val="FFFFFF"/>
                </a:solidFill>
                <a:latin typeface="Aptos Display" pitchFamily="34" charset="0"/>
                <a:ea typeface="Aptos Display" pitchFamily="34" charset="-122"/>
                <a:cs typeface="Aptos Display" pitchFamily="34" charset="-120"/>
              </a:rPr>
              <a:t>Connect With Me</a:t>
            </a:r>
            <a:endParaRPr lang="en-US" sz="2800" dirty="0"/>
          </a:p>
        </p:txBody>
      </p:sp>
      <p:pic>
        <p:nvPicPr>
          <p:cNvPr id="5" name="Picture 4">
            <a:extLst>
              <a:ext uri="{FF2B5EF4-FFF2-40B4-BE49-F238E27FC236}">
                <a16:creationId xmlns:a16="http://schemas.microsoft.com/office/drawing/2014/main" id="{9D6B9C33-5EB4-1375-1303-30453C04A509}"/>
              </a:ext>
            </a:extLst>
          </p:cNvPr>
          <p:cNvPicPr>
            <a:picLocks noChangeAspect="1"/>
          </p:cNvPicPr>
          <p:nvPr/>
        </p:nvPicPr>
        <p:blipFill>
          <a:blip r:embed="rId3"/>
          <a:stretch>
            <a:fillRect/>
          </a:stretch>
        </p:blipFill>
        <p:spPr>
          <a:xfrm>
            <a:off x="5720980" y="2140007"/>
            <a:ext cx="2491763" cy="249176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4910</TotalTime>
  <Words>1863</Words>
  <Application>Microsoft Office PowerPoint</Application>
  <PresentationFormat>Widescreen</PresentationFormat>
  <Paragraphs>147</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vt:lpstr>
      <vt:lpstr>Aptos Display</vt: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Suffolk Construction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Example of a Voice-Enabled Mobile Shiny App Built for Construction</dc:title>
  <dc:subject>Vera Notes lightning talk for a Posit R language event</dc:subject>
  <dc:creator>Lucas Da Silva</dc:creator>
  <cp:lastModifiedBy>Da Silva, Lucas</cp:lastModifiedBy>
  <cp:revision>246</cp:revision>
  <dcterms:created xsi:type="dcterms:W3CDTF">2026-08-17T19:23:17Z</dcterms:created>
  <dcterms:modified xsi:type="dcterms:W3CDTF">2026-09-28T20:08:11Z</dcterms:modified>
</cp:coreProperties>
</file>